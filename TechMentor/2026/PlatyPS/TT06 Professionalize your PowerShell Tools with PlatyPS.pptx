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18"/>
  </p:notesMasterIdLst>
  <p:handoutMasterIdLst>
    <p:handoutMasterId r:id="rId19"/>
  </p:handoutMasterIdLst>
  <p:sldIdLst>
    <p:sldId id="258" r:id="rId2"/>
    <p:sldId id="275" r:id="rId3"/>
    <p:sldId id="277" r:id="rId4"/>
    <p:sldId id="278" r:id="rId5"/>
    <p:sldId id="262" r:id="rId6"/>
    <p:sldId id="279" r:id="rId7"/>
    <p:sldId id="280" r:id="rId8"/>
    <p:sldId id="281" r:id="rId9"/>
    <p:sldId id="283" r:id="rId10"/>
    <p:sldId id="282" r:id="rId11"/>
    <p:sldId id="284" r:id="rId12"/>
    <p:sldId id="285" r:id="rId13"/>
    <p:sldId id="286" r:id="rId14"/>
    <p:sldId id="287" r:id="rId15"/>
    <p:sldId id="288" r:id="rId16"/>
    <p:sldId id="276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CC33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A5C9"/>
    <a:srgbClr val="70CDDC"/>
    <a:srgbClr val="ED1C5E"/>
    <a:srgbClr val="23B0E6"/>
    <a:srgbClr val="8064A2"/>
    <a:srgbClr val="6179A8"/>
    <a:srgbClr val="5EAFA6"/>
    <a:srgbClr val="5CB565"/>
    <a:srgbClr val="F774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5" autoAdjust="0"/>
    <p:restoredTop sz="87600" autoAdjust="0"/>
  </p:normalViewPr>
  <p:slideViewPr>
    <p:cSldViewPr>
      <p:cViewPr varScale="1">
        <p:scale>
          <a:sx n="86" d="100"/>
          <a:sy n="86" d="100"/>
        </p:scale>
        <p:origin x="1008" y="56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155" y="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Potts" userId="1a23842b-a11a-42b9-b90f-4055cb1bcb4b" providerId="ADAL" clId="{DFFCC730-883C-498C-8CEA-1E069239877D}"/>
    <pc:docChg chg="mod modSld modMainMaster">
      <pc:chgData name="Danielle Potts" userId="1a23842b-a11a-42b9-b90f-4055cb1bcb4b" providerId="ADAL" clId="{DFFCC730-883C-498C-8CEA-1E069239877D}" dt="2026-04-03T19:38:29.214" v="25" actId="1076"/>
      <pc:docMkLst>
        <pc:docMk/>
      </pc:docMkLst>
      <pc:sldChg chg="modSp mod setBg">
        <pc:chgData name="Danielle Potts" userId="1a23842b-a11a-42b9-b90f-4055cb1bcb4b" providerId="ADAL" clId="{DFFCC730-883C-498C-8CEA-1E069239877D}" dt="2026-04-03T19:38:29.214" v="25" actId="1076"/>
        <pc:sldMkLst>
          <pc:docMk/>
          <pc:sldMk cId="405188728" sldId="258"/>
        </pc:sldMkLst>
        <pc:spChg chg="mod">
          <ac:chgData name="Danielle Potts" userId="1a23842b-a11a-42b9-b90f-4055cb1bcb4b" providerId="ADAL" clId="{DFFCC730-883C-498C-8CEA-1E069239877D}" dt="2026-04-03T19:38:19.835" v="23" actId="1076"/>
          <ac:spMkLst>
            <pc:docMk/>
            <pc:sldMk cId="405188728" sldId="258"/>
            <ac:spMk id="6" creationId="{00000000-0000-0000-0000-000000000000}"/>
          </ac:spMkLst>
        </pc:spChg>
        <pc:spChg chg="mod">
          <ac:chgData name="Danielle Potts" userId="1a23842b-a11a-42b9-b90f-4055cb1bcb4b" providerId="ADAL" clId="{DFFCC730-883C-498C-8CEA-1E069239877D}" dt="2026-04-03T19:38:23.451" v="24" actId="1076"/>
          <ac:spMkLst>
            <pc:docMk/>
            <pc:sldMk cId="405188728" sldId="258"/>
            <ac:spMk id="7" creationId="{00000000-0000-0000-0000-000000000000}"/>
          </ac:spMkLst>
        </pc:spChg>
        <pc:spChg chg="mod">
          <ac:chgData name="Danielle Potts" userId="1a23842b-a11a-42b9-b90f-4055cb1bcb4b" providerId="ADAL" clId="{DFFCC730-883C-498C-8CEA-1E069239877D}" dt="2026-04-03T19:38:29.214" v="25" actId="1076"/>
          <ac:spMkLst>
            <pc:docMk/>
            <pc:sldMk cId="405188728" sldId="258"/>
            <ac:spMk id="8" creationId="{00000000-0000-0000-0000-000000000000}"/>
          </ac:spMkLst>
        </pc:spChg>
      </pc:sldChg>
      <pc:sldMasterChg chg="setBg">
        <pc:chgData name="Danielle Potts" userId="1a23842b-a11a-42b9-b90f-4055cb1bcb4b" providerId="ADAL" clId="{DFFCC730-883C-498C-8CEA-1E069239877D}" dt="2026-04-03T19:32:27.921" v="2"/>
        <pc:sldMasterMkLst>
          <pc:docMk/>
          <pc:sldMasterMk cId="1580938178" sldId="2147483682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TechMentor Microsoft HQ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09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dwheeler/seanonit/blob/main/content/downloads/platyps/demo.ps1" TargetMode="External"/><Relationship Id="rId3" Type="http://schemas.openxmlformats.org/officeDocument/2006/relationships/hyperlink" Target="https://seanonit.org/docs/platyps/" TargetMode="External"/><Relationship Id="rId7" Type="http://schemas.openxmlformats.org/officeDocument/2006/relationships/hyperlink" Target="https://github.com/sdwheeler/seanonit/blob/main/content/downloads/platyps/demo-data.zip" TargetMode="External"/><Relationship Id="rId2" Type="http://schemas.openxmlformats.org/officeDocument/2006/relationships/hyperlink" Target="https://seanonit.org/docs/powershell-hel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wershellgallery.com/packages/Microsoft.PowerShell.PlatyPS" TargetMode="External"/><Relationship Id="rId5" Type="http://schemas.openxmlformats.org/officeDocument/2006/relationships/hyperlink" Target="https://github.com/PowerShell/platyPS/" TargetMode="External"/><Relationship Id="rId4" Type="http://schemas.openxmlformats.org/officeDocument/2006/relationships/hyperlink" Target="https://learn.microsoft.com/powershell/module/microsoft.powershell.platyps" TargetMode="External"/><Relationship Id="rId9" Type="http://schemas.openxmlformats.org/officeDocument/2006/relationships/hyperlink" Target="https://github.com/sdwheeler/seanonit/blob/main/content/downloads/platyps/Test-ParameterInfo.ps1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09700" y="2402341"/>
            <a:ext cx="6324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ED1C5E"/>
                </a:solidFill>
                <a:latin typeface="Arial" charset="0"/>
                <a:cs typeface="+mn-cs"/>
              </a:rPr>
              <a:t>Sean Wheeler &amp; Jason Helmick</a:t>
            </a:r>
            <a:endParaRPr lang="en-US" sz="2800" b="1" dirty="0">
              <a:solidFill>
                <a:srgbClr val="ED1C5E"/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800" b="1" dirty="0">
                <a:solidFill>
                  <a:srgbClr val="ED1C5E"/>
                </a:solidFill>
                <a:latin typeface="Arial" charset="0"/>
              </a:rPr>
              <a:t>Microsoft</a:t>
            </a:r>
            <a:endParaRPr lang="en-US" sz="2400" b="1" dirty="0">
              <a:solidFill>
                <a:srgbClr val="ED1C5E"/>
              </a:solidFill>
              <a:latin typeface="Arial" charset="0"/>
            </a:endParaRPr>
          </a:p>
          <a:p>
            <a:r>
              <a:rPr lang="en-US" dirty="0">
                <a:solidFill>
                  <a:srgbClr val="ED1C5E"/>
                </a:solidFill>
                <a:latin typeface="Arial" charset="0"/>
              </a:rPr>
              <a:t>Level: Intermediate</a:t>
            </a:r>
          </a:p>
          <a:p>
            <a:pPr algn="r"/>
            <a:endParaRPr lang="en-US" sz="2400" b="1" dirty="0">
              <a:solidFill>
                <a:schemeClr val="accent1"/>
              </a:solidFill>
              <a:latin typeface="Arial" charset="0"/>
            </a:endParaRPr>
          </a:p>
          <a:p>
            <a:pPr>
              <a:defRPr/>
            </a:pPr>
            <a:endParaRPr lang="en-US" sz="2400" b="1" dirty="0">
              <a:solidFill>
                <a:srgbClr val="ED1C5E"/>
              </a:solidFill>
              <a:latin typeface="Arial" charset="0"/>
            </a:endParaRPr>
          </a:p>
          <a:p>
            <a:pPr eaLnBrk="1" hangingPunct="1">
              <a:defRPr/>
            </a:pPr>
            <a:endParaRPr lang="en-US" b="1" dirty="0">
              <a:solidFill>
                <a:srgbClr val="1F497D"/>
              </a:solidFill>
              <a:latin typeface="Arial" charset="0"/>
              <a:cs typeface="+mn-cs"/>
            </a:endParaRPr>
          </a:p>
          <a:p>
            <a:pPr eaLnBrk="1" hangingPunct="1">
              <a:defRPr/>
            </a:pPr>
            <a:endParaRPr lang="en-US" sz="1400" dirty="0">
              <a:solidFill>
                <a:srgbClr val="1F497D"/>
              </a:solidFill>
              <a:latin typeface="Times New Roman" pitchFamily="28" charset="0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181100" y="1200150"/>
            <a:ext cx="73152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r>
              <a:rPr lang="en-US" b="1" dirty="0">
                <a:effectLst/>
              </a:rPr>
              <a:t>TT06 Professionalize your PowerShell Tools using PlatyPS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83D4-F85C-02D3-FF56-67099F97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7DE9-75E5-C504-1744-EAE38725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EA96-1130-0451-4C71-8925F6694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DEBAF-2B2D-EA69-A593-F3A248C2E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4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3EEBC-65E9-D495-4005-1AAD8BF0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Professional tools have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BE4DC-DE54-ACC7-69EF-0F9A3ACFF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 lIns="36576" tIns="18288" rIns="18288" bIns="18288"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0" dirty="0"/>
              <a:t>Do you really have a product without docs?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/>
              <a:t>It’s not a tool if only you can use it.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/>
              <a:t>Docs build trust, enhances discoverability, speeds adoption.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lang="en-US" sz="2000" b="0" dirty="0"/>
          </a:p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0" dirty="0"/>
              <a:t>If users can’t discover, understand, and trust it, they won’t adopt it.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000" b="0" dirty="0"/>
              <a:t>The user you</a:t>
            </a:r>
            <a:r>
              <a:rPr lang="en-US" sz="2000" dirty="0"/>
              <a:t>r docs</a:t>
            </a:r>
            <a:r>
              <a:rPr lang="en-US" sz="2000" b="0" dirty="0"/>
              <a:t> help may be YOU in 6 months!</a:t>
            </a:r>
          </a:p>
        </p:txBody>
      </p:sp>
      <p:pic>
        <p:nvPicPr>
          <p:cNvPr id="4" name="Picture 3" descr="Search and help interface concept for technical documentation, shown on a laptop with abstract code and navigation pan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24063"/>
            <a:ext cx="4038600" cy="2746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064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6C2E-5D13-2B07-58F2-129B4EFC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kern="1200">
                <a:latin typeface="+mj-lt"/>
                <a:ea typeface="+mj-ea"/>
                <a:cs typeface="+mj-cs"/>
              </a:rPr>
              <a:t>Professional Documentation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6C47C-4D6A-4766-BEB5-8919ECA6E6F5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300" b="1" dirty="0"/>
              <a:t>Uniform Formatting</a:t>
            </a:r>
          </a:p>
          <a:p>
            <a:pPr marL="0" lvl="1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300" dirty="0"/>
              <a:t>Create documentation using standardized templates and formats that meet user expectations, ensuring consistency and clarity.</a:t>
            </a:r>
          </a:p>
          <a:p>
            <a:pPr marL="0" lvl="0" indent="0" defTabSz="4572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300" b="1" dirty="0"/>
              <a:t>Automation &amp; Version Control</a:t>
            </a:r>
          </a:p>
          <a:p>
            <a:pPr marL="0" lvl="1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300" dirty="0"/>
              <a:t>Integrate docs within the product automation pipeline and </a:t>
            </a:r>
            <a:r>
              <a:rPr lang="en-US" sz="1300" dirty="0"/>
              <a:t>use</a:t>
            </a:r>
            <a:r>
              <a:rPr sz="1300" dirty="0"/>
              <a:t> source control systems for managing versions efficiently.</a:t>
            </a:r>
          </a:p>
          <a:p>
            <a:pPr marL="0" lvl="0" indent="0" defTabSz="45720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/>
              <a:buNone/>
            </a:pPr>
            <a:r>
              <a:rPr sz="1300" b="1" dirty="0"/>
              <a:t>Feedback &amp; </a:t>
            </a:r>
            <a:r>
              <a:rPr lang="en-US" sz="1300" b="1" dirty="0"/>
              <a:t>Continuous Improvement</a:t>
            </a:r>
            <a:endParaRPr sz="1300" b="1" dirty="0"/>
          </a:p>
          <a:p>
            <a:pPr marL="0" lvl="1" indent="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 typeface="Arial"/>
              <a:buNone/>
            </a:pPr>
            <a:r>
              <a:rPr sz="1300" dirty="0"/>
              <a:t>Implement feedback mechanisms for continuous improvement and maintain separate </a:t>
            </a:r>
            <a:r>
              <a:rPr lang="en-US" sz="1300" dirty="0"/>
              <a:t>pipelines</a:t>
            </a:r>
            <a:r>
              <a:rPr sz="1300" dirty="0"/>
              <a:t> for docs and code to enable rapid </a:t>
            </a:r>
            <a:r>
              <a:rPr lang="en-US" sz="1300" dirty="0"/>
              <a:t>docs </a:t>
            </a:r>
            <a:r>
              <a:rPr sz="1300" dirty="0"/>
              <a:t>updates.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8FE4AC-4381-4473-A18A-2B20A7CF97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864" r="45571" b="-1"/>
          <a:stretch>
            <a:fillRect/>
          </a:stretch>
        </p:blipFill>
        <p:spPr>
          <a:xfrm>
            <a:off x="4648200" y="1200150"/>
            <a:ext cx="4038600" cy="3394075"/>
          </a:xfrm>
        </p:spPr>
      </p:pic>
    </p:spTree>
    <p:extLst>
      <p:ext uri="{BB962C8B-B14F-4D97-AF65-F5344CB8AC3E}">
        <p14:creationId xmlns:p14="http://schemas.microsoft.com/office/powerpoint/2010/main" val="423138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67B4B57-E763-273C-0774-980588DC6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6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75168-4861-0776-DD2A-75D32808A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11" y="361950"/>
            <a:ext cx="7388578" cy="41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0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E7FA52-168A-7EE1-0E8B-7F09BAFC6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55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98FD8-F8D4-8FE9-136F-9ED9AB55F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97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D54D-5272-853B-DF2C-12FB87C3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F2CA3-5635-5B6B-1549-E673495C8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6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45E37-EE11-3373-AF5E-A61F83B9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D3E4B9-1BA5-99A6-6684-B945C73DF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96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DDEC-5D3D-6F8B-D547-8D5EE38F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8CA2B-3E08-1055-6853-88FFE30C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79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AD2F-45F2-D962-3156-36E79FFE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569927-35E7-57C8-FD91-3AC8EBE04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0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90B41-DB8D-2E72-4C51-B21DF51B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DD2B24-3974-4AE0-1628-470A8B22A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1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0D20-E154-414C-ACDD-FA8FA0A9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51AE3E-A363-A8D6-6EB9-971F82C49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23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AE41-7508-1864-2269-06497C5F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37CB2-4595-7D7D-7AC4-62C03CB1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Presentations</a:t>
            </a:r>
          </a:p>
          <a:p>
            <a:r>
              <a:rPr lang="en-US" sz="1600" dirty="0">
                <a:hlinkClick r:id="rId2"/>
              </a:rPr>
              <a:t>Unlocking the secrets of PowerShell Help</a:t>
            </a:r>
            <a:endParaRPr lang="en-US" sz="1600" dirty="0"/>
          </a:p>
          <a:p>
            <a:r>
              <a:rPr lang="en-US" sz="1600" dirty="0">
                <a:hlinkClick r:id="rId3"/>
              </a:rPr>
              <a:t>PlatyPS v1.0</a:t>
            </a:r>
            <a:endParaRPr lang="en-US" sz="1600" dirty="0"/>
          </a:p>
          <a:p>
            <a:pPr marL="0" indent="0">
              <a:buNone/>
            </a:pPr>
            <a:r>
              <a:rPr lang="en-US" sz="2000" dirty="0" err="1"/>
              <a:t>Microsoft.PowerShell.PlatyPS</a:t>
            </a:r>
            <a:r>
              <a:rPr lang="en-US" sz="2000" dirty="0"/>
              <a:t> v1.0.0</a:t>
            </a:r>
          </a:p>
          <a:p>
            <a:pPr lvl="0"/>
            <a:r>
              <a:rPr lang="en-US" sz="1600" dirty="0" err="1">
                <a:hlinkClick r:id="rId4"/>
              </a:rPr>
              <a:t>Microsoft.PowerShell.PlatyPS</a:t>
            </a:r>
            <a:r>
              <a:rPr lang="en-US" sz="1600" dirty="0">
                <a:hlinkClick r:id="rId4"/>
              </a:rPr>
              <a:t> cmdlet reference</a:t>
            </a:r>
            <a:endParaRPr lang="en-US" sz="1600" dirty="0"/>
          </a:p>
          <a:p>
            <a:pPr lvl="0"/>
            <a:r>
              <a:rPr lang="en-US" sz="1600" dirty="0">
                <a:hlinkClick r:id="rId5"/>
              </a:rPr>
              <a:t>Source code</a:t>
            </a:r>
            <a:endParaRPr lang="en-US" sz="1600" dirty="0"/>
          </a:p>
          <a:p>
            <a:pPr lvl="0"/>
            <a:r>
              <a:rPr lang="en-US" sz="1600" dirty="0" err="1">
                <a:hlinkClick r:id="rId6"/>
              </a:rPr>
              <a:t>Microsoft.PowerShell.PlatyPS</a:t>
            </a:r>
            <a:r>
              <a:rPr lang="en-US" sz="1600" dirty="0">
                <a:hlinkClick r:id="rId6"/>
              </a:rPr>
              <a:t> on the PowerShell Gallery</a:t>
            </a:r>
            <a:endParaRPr lang="en-US" sz="1600" dirty="0"/>
          </a:p>
          <a:p>
            <a:pPr marL="0" indent="0">
              <a:buNone/>
            </a:pPr>
            <a:r>
              <a:rPr lang="en-US" sz="2000" dirty="0"/>
              <a:t>Demo Scripts and samples</a:t>
            </a:r>
          </a:p>
          <a:p>
            <a:pPr lvl="0"/>
            <a:r>
              <a:rPr lang="en-US" sz="1600" dirty="0">
                <a:hlinkClick r:id="rId7"/>
              </a:rPr>
              <a:t>Demo data</a:t>
            </a:r>
            <a:r>
              <a:rPr lang="en-US" sz="1600" dirty="0"/>
              <a:t> - </a:t>
            </a:r>
            <a:r>
              <a:rPr lang="en-US" sz="1600" dirty="0">
                <a:hlinkClick r:id="rId8"/>
              </a:rPr>
              <a:t>demo.ps1</a:t>
            </a:r>
            <a:endParaRPr lang="en-US" sz="1600" dirty="0"/>
          </a:p>
          <a:p>
            <a:pPr lvl="0"/>
            <a:r>
              <a:rPr lang="en-US" sz="1600" dirty="0">
                <a:hlinkClick r:id="rId9"/>
              </a:rPr>
              <a:t>Test-ParameterInfo.ps1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84005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A565-86FB-336F-FF2D-83319688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B576-BC64-9CBD-B0AD-B4F422DF2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Your feedback is very important to us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5E35D-5D18-06BA-C883-726AAAA93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6078071" cy="33940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 in the App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A8122-426C-4D39-7D52-D898798A1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8353" y="1200150"/>
            <a:ext cx="1918447" cy="19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273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273</Words>
  <Application>Microsoft Office PowerPoint</Application>
  <PresentationFormat>On-screen Show (16:9)</PresentationFormat>
  <Paragraphs>42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Custom Design</vt:lpstr>
      <vt:lpstr>PowerPoint Presentation</vt:lpstr>
      <vt:lpstr>Your feedback is very important to us</vt:lpstr>
      <vt:lpstr>Professional tools have documentation</vt:lpstr>
      <vt:lpstr>Professional Documentation Strategies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Resources</vt:lpstr>
      <vt:lpstr>Your feedback is very important to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Sean Wheeler</cp:lastModifiedBy>
  <cp:revision>5</cp:revision>
  <dcterms:created xsi:type="dcterms:W3CDTF">2015-02-16T21:29:58Z</dcterms:created>
  <dcterms:modified xsi:type="dcterms:W3CDTF">2026-07-24T21:50:22Z</dcterms:modified>
</cp:coreProperties>
</file>