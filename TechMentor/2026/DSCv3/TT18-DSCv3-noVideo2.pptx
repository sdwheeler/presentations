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0" r:id="rId5"/>
    <p:sldMasterId id="2147483671" r:id="rId6"/>
    <p:sldMasterId id="2147483683" r:id="rId7"/>
  </p:sldMasterIdLst>
  <p:notesMasterIdLst>
    <p:notesMasterId r:id="rId24"/>
  </p:notesMasterIdLst>
  <p:sldIdLst>
    <p:sldId id="258" r:id="rId8"/>
    <p:sldId id="304" r:id="rId9"/>
    <p:sldId id="310" r:id="rId10"/>
    <p:sldId id="311" r:id="rId11"/>
    <p:sldId id="312" r:id="rId12"/>
    <p:sldId id="319" r:id="rId13"/>
    <p:sldId id="327" r:id="rId14"/>
    <p:sldId id="280" r:id="rId15"/>
    <p:sldId id="281" r:id="rId16"/>
    <p:sldId id="317" r:id="rId17"/>
    <p:sldId id="325" r:id="rId18"/>
    <p:sldId id="329" r:id="rId19"/>
    <p:sldId id="330" r:id="rId20"/>
    <p:sldId id="321" r:id="rId21"/>
    <p:sldId id="308" r:id="rId22"/>
    <p:sldId id="26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E8271E-9FAD-6E4A-82AF-DD2FCD461460}" v="464" dt="2026-07-31T19:15:54.944"/>
    <p1510:client id="{F9E3A6B0-2B7C-1244-89EA-DFF95D2EBFE1}" v="3" dt="2026-07-31T19:23:52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/>
    <p:restoredTop sz="94675"/>
  </p:normalViewPr>
  <p:slideViewPr>
    <p:cSldViewPr snapToGrid="0">
      <p:cViewPr varScale="1">
        <p:scale>
          <a:sx n="104" d="100"/>
          <a:sy n="104" d="100"/>
        </p:scale>
        <p:origin x="108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588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326DE0-BACA-4EA0-B73F-CC7DC1D7F4A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39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Web.config.ps1 and </a:t>
            </a:r>
            <a:r>
              <a:rPr lang="en-US" dirty="0" err="1"/>
              <a:t>localhost.mof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0B96E-5CE2-C441-B0BC-5DB652161B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91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21E3F-40F4-E7B2-3835-E776F66A4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2626B-887F-A416-9667-67654FC6D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94586-E5A6-8A6A-2FDE-9393F766A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Web.config.ps1 and </a:t>
            </a:r>
            <a:r>
              <a:rPr lang="en-US" dirty="0" err="1"/>
              <a:t>localhost.mof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781CE-CB61-BD09-480C-FD7811B32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B0B96E-5CE2-C441-B0BC-5DB652161B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225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3A28-C60A-94EE-86A2-150CA554D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3E683D-0FED-273B-2F84-764EF692D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54466-4D75-6146-E797-0B33A228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DF396-0AB5-F171-9204-8D7BF7CB3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70BBB-71A3-A0BC-629F-679808EC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6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5B60-522A-FB06-63FB-CF72070A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88A4-22C4-B679-E22A-69F9756F8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70737-5926-0030-8157-DB05168DF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5E86F-4F58-558E-2DAA-379D688C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F8469-9524-ED2B-4861-FF7BCA25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0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43EC7-86EA-ABA8-DB1A-167ECF048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525E6-00CB-31F0-FCAD-6A4032138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497E4-B6A2-187F-B5FC-D3A840BA8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8822F-5154-309F-30FD-C0619A28F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2DA12-7417-F96A-7431-0A9D52AD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64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96A36-C6D0-EDE7-5165-5E5876DC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13DF0-B2B8-6A1F-CEAA-4CBD27166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111BD-BFCD-479B-A770-F07E4B439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EF516-B0CF-CDB9-5F32-28E0905B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86CE4-758F-A3E5-1F55-3F5B1603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99735-6A81-363B-49DB-41505F95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2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2657F-0E07-5F57-3A40-DA1AE645D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9714E-4BF8-A116-A8B2-5D0206713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AC331-E693-E6CF-0260-38834505D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E5288-3F3E-77CF-18A6-C2E83EDD3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3DF6F2-89FC-6DE7-0293-E6D16A637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5D8B88-CE0E-7267-4E6B-4379B968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14388-AAC1-B5CA-8AD2-961772EB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759C28-F346-1EA5-D42B-3C7DE4F0A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74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23F89-D98E-0F2F-3D86-07019FE06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76F1F-53F6-A784-0E0B-BC72E6322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F5319-BBF9-1D31-733B-7B89FCBB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B8D47-7F7B-AFDE-4F40-5B7C854B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49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F2216-D57D-5ECF-9272-52B15043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E88C9-0716-98E3-3084-7B202201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B69E6-CB4D-3F2E-D0DF-3DA267CD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98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C145-3E81-C843-0932-2795E0C91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AD850-2BBF-D94A-AAF1-DA6036009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EDDD8-5D89-491F-4AA7-DF7F81409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122D3-A1DC-48ED-B8F8-1C307C50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7324E-C583-824A-37CB-54B3C3F2A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5BE5D-DF6D-F979-A639-92EEF05B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10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3F9A-6380-ECBA-9008-9EB9D147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6C65C8-FB9E-C091-8E12-D95AA6FBE2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88F3A-15D4-18C8-5F34-782E66FA2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ACA97-39FF-AD5A-B1E5-584E3011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DF9DD-39BD-2389-B254-E1ED1F4B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39183-2A81-000C-5EF5-B5194295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7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1CCF4-71BD-F7F9-929E-AC8349D7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5E716-FB7C-E727-6BCC-26998818D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F23A0-7806-41FB-B19D-01169D29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0F1B0-9388-80D4-8357-8E533C93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AC2DC-BB2F-41A5-DCEE-75F79058F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1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2EA7B9-0B78-94B1-9DB1-54C6EA621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54903-7D77-6C12-331F-1DF4DF508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77F0B-9EC2-8FB2-5813-DB45D0239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39138-D4F7-D1FD-80D0-53FA57DC6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6BA97-F265-51C2-8CED-A19F7643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928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695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683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0203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539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087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131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0676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173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1136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8585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1485"/>
            <a:ext cx="10363200" cy="14689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26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72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185"/>
            <a:ext cx="10363200" cy="150071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326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770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5934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485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63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405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1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545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1785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91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743200" cy="58504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788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1485"/>
            <a:ext cx="10363200" cy="14689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7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6455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3133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185"/>
            <a:ext cx="10363200" cy="1500716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573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43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988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4584"/>
            <a:ext cx="5386917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5934"/>
            <a:ext cx="5386917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4584"/>
            <a:ext cx="5389033" cy="6413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5934"/>
            <a:ext cx="5389033" cy="3949700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698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9896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155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1"/>
            <a:ext cx="4011084" cy="116204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25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05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303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726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3833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867"/>
            <a:ext cx="7315200" cy="80433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901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489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5167"/>
            <a:ext cx="2743200" cy="58504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5167"/>
            <a:ext cx="8026400" cy="58504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89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5.jp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image" Target="../media/image6.jpg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5379B-FCE2-8FA8-D51B-D1CD388E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92D7F-5E7A-2EF2-F71C-4F03E922F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873E0-911A-CC0E-E0CC-A4745BB1A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59D01-33F6-FE4F-90A4-FED4964A16F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CDE67-66A8-46F0-D96A-90AC6D4B2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4CBC-08B7-82A2-B287-5DBED1595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089B2-F4CA-E645-A450-FB2E6AEE0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5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7" y="6335963"/>
            <a:ext cx="227396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46296"/>
                </a:solidFill>
              </a:rPr>
              <a:t>@</a:t>
            </a:r>
            <a:r>
              <a:rPr lang="en-GB" b="1" dirty="0" err="1">
                <a:solidFill>
                  <a:srgbClr val="346296"/>
                </a:solidFill>
              </a:rPr>
              <a:t>Steve_MSFT</a:t>
            </a:r>
            <a:endParaRPr lang="en-GB" b="1" dirty="0">
              <a:solidFill>
                <a:srgbClr val="346296"/>
              </a:solidFill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6" name="Image 5" descr="Une image contenant Graphique, graphisme, Police, conception&#10;&#10;Description générée automatiquement">
            <a:extLst>
              <a:ext uri="{FF2B5EF4-FFF2-40B4-BE49-F238E27FC236}">
                <a16:creationId xmlns:a16="http://schemas.microsoft.com/office/drawing/2014/main" id="{E930E345-9F23-9F70-8149-3EF195727FE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325" y="1147877"/>
            <a:ext cx="1266793" cy="300691"/>
          </a:xfrm>
          <a:prstGeom prst="rect">
            <a:avLst/>
          </a:prstGeom>
        </p:spPr>
      </p:pic>
      <p:pic>
        <p:nvPicPr>
          <p:cNvPr id="11" name="Image 10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8F580B04-0A71-F403-17DA-BF3F734827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043" y="6367194"/>
            <a:ext cx="342783" cy="35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8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52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8F999-7A4E-6B4F-9FED-EF75B73AD04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24AAD-DF78-DE44-A1F3-EEB19EDC9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6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owerShell/DSC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arn.microsoft.com/en-us/powershell/dsc/overview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946401" y="3327279"/>
            <a:ext cx="7284122" cy="17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564" tIns="57283" rIns="114564" bIns="57283"/>
          <a:lstStyle/>
          <a:p>
            <a:pPr defTabSz="1219170">
              <a:defRPr/>
            </a:pPr>
            <a:r>
              <a:rPr lang="en-US" sz="4267" b="1" dirty="0">
                <a:solidFill>
                  <a:srgbClr val="ED1C5E"/>
                </a:solidFill>
                <a:latin typeface="Arial" charset="0"/>
              </a:rPr>
              <a:t>Jason Helmick</a:t>
            </a:r>
            <a:endParaRPr lang="en-US" sz="3733" b="1" dirty="0">
              <a:solidFill>
                <a:srgbClr val="ED1C5E"/>
              </a:solidFill>
              <a:latin typeface="Arial" charset="0"/>
            </a:endParaRPr>
          </a:p>
          <a:p>
            <a:pPr defTabSz="1219170">
              <a:defRPr/>
            </a:pPr>
            <a:r>
              <a:rPr lang="en-US" sz="3200" b="1" dirty="0">
                <a:solidFill>
                  <a:srgbClr val="ED1C5E"/>
                </a:solidFill>
                <a:latin typeface="Arial" charset="0"/>
              </a:rPr>
              <a:t>Sr. Product Manager/PowerShell</a:t>
            </a:r>
          </a:p>
          <a:p>
            <a:pPr defTabSz="1219170">
              <a:defRPr/>
            </a:pPr>
            <a:r>
              <a:rPr lang="en-US" sz="3200" b="1" dirty="0">
                <a:solidFill>
                  <a:srgbClr val="ED1C5E"/>
                </a:solidFill>
                <a:latin typeface="Arial" charset="0"/>
              </a:rPr>
              <a:t>Microsoft</a:t>
            </a:r>
          </a:p>
          <a:p>
            <a:pPr defTabSz="1219170">
              <a:defRPr/>
            </a:pPr>
            <a:endParaRPr lang="en-US" sz="2400" b="1" dirty="0">
              <a:solidFill>
                <a:srgbClr val="1F497D"/>
              </a:solidFill>
              <a:latin typeface="Arial" charset="0"/>
            </a:endParaRPr>
          </a:p>
          <a:p>
            <a:pPr defTabSz="1219170">
              <a:defRPr/>
            </a:pPr>
            <a:endParaRPr lang="en-US" sz="1867" dirty="0">
              <a:solidFill>
                <a:srgbClr val="1F497D"/>
              </a:solidFill>
              <a:latin typeface="Times New Roman" pitchFamily="2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946401" y="5315906"/>
            <a:ext cx="466881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Console" pitchFamily="49" charset="0"/>
                <a:cs typeface="Arial" charset="0"/>
              </a:defRPr>
            </a:lvl9pPr>
          </a:lstStyle>
          <a:p>
            <a:pPr algn="r" defTabSz="1219170"/>
            <a:r>
              <a:rPr lang="en-US" sz="2667" dirty="0">
                <a:solidFill>
                  <a:srgbClr val="ED1C5E"/>
                </a:solidFill>
                <a:latin typeface="Arial" charset="0"/>
              </a:rPr>
              <a:t>Level: Beginner/Intermediate</a:t>
            </a:r>
          </a:p>
          <a:p>
            <a:pPr algn="r" defTabSz="1219170"/>
            <a:endParaRPr lang="en-US" sz="2133" b="1" dirty="0">
              <a:solidFill>
                <a:srgbClr val="4F81BD"/>
              </a:solidFill>
              <a:latin typeface="Arial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743200" y="1600200"/>
            <a:ext cx="9245600" cy="1507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92100"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20505" tIns="59264" rIns="120505" bIns="59264" numCol="1" anchor="ctr" anchorCtr="0" compatLnSpc="1">
            <a:prstTxWarp prst="textNoShape">
              <a:avLst/>
            </a:prstTxWarp>
          </a:bodyPr>
          <a:lstStyle>
            <a:lvl1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2pPr>
            <a:lvl3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3pPr>
            <a:lvl4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4pPr>
            <a:lvl5pPr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5pPr>
            <a:lvl6pPr marL="4572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6pPr>
            <a:lvl7pPr marL="9144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7pPr>
            <a:lvl8pPr marL="13716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8pPr>
            <a:lvl9pPr marL="1828800" algn="l" defTabSz="896938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0B0EB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28" charset="0"/>
              </a:defRPr>
            </a:lvl9pPr>
          </a:lstStyle>
          <a:p>
            <a:pPr defTabSz="1195887">
              <a:lnSpc>
                <a:spcPct val="80000"/>
              </a:lnSpc>
              <a:defRPr/>
            </a:pPr>
            <a:r>
              <a:rPr lang="en-US" sz="5867" b="1" dirty="0">
                <a:solidFill>
                  <a:srgbClr val="35A5C9"/>
                </a:solidFill>
                <a:effectLst/>
                <a:latin typeface="Calibri"/>
              </a:rPr>
              <a:t>Configuration Management with DSC </a:t>
            </a:r>
            <a:r>
              <a:rPr lang="en-US" sz="5867" b="1" dirty="0" err="1">
                <a:solidFill>
                  <a:srgbClr val="35A5C9"/>
                </a:solidFill>
                <a:effectLst/>
                <a:latin typeface="Calibri"/>
              </a:rPr>
              <a:t>v.Next</a:t>
            </a:r>
            <a:endParaRPr lang="en-US" sz="5867" b="1" dirty="0">
              <a:solidFill>
                <a:srgbClr val="35A5C9"/>
              </a:solidFill>
              <a:effectLst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18872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AD5AC-994A-0EAA-B31D-3951D72C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475A00-FCD0-05E1-C0D7-7E2569DE70E7}"/>
              </a:ext>
            </a:extLst>
          </p:cNvPr>
          <p:cNvSpPr txBox="1">
            <a:spLocks/>
          </p:cNvSpPr>
          <p:nvPr/>
        </p:nvSpPr>
        <p:spPr>
          <a:xfrm>
            <a:off x="3264746" y="-199383"/>
            <a:ext cx="2983653" cy="18249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DSC v3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E21CBA4-5B0C-D458-4DAD-4FA645C3EFB5}"/>
              </a:ext>
            </a:extLst>
          </p:cNvPr>
          <p:cNvSpPr txBox="1">
            <a:spLocks/>
          </p:cNvSpPr>
          <p:nvPr/>
        </p:nvSpPr>
        <p:spPr>
          <a:xfrm>
            <a:off x="5672051" y="6137910"/>
            <a:ext cx="4877416" cy="720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Desired State Configuration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5A44D9-A000-3C15-08F8-A6B2A64258C4}"/>
              </a:ext>
            </a:extLst>
          </p:cNvPr>
          <p:cNvSpPr/>
          <p:nvPr/>
        </p:nvSpPr>
        <p:spPr>
          <a:xfrm>
            <a:off x="163405" y="164018"/>
            <a:ext cx="97852" cy="1190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810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75236-17F1-9230-66A2-D1CF5EF3D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900D6-D05B-26FA-AE48-A86C107AC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Manual processes</a:t>
            </a:r>
          </a:p>
          <a:p>
            <a:r>
              <a:rPr lang="en-US"/>
              <a:t>Single systems</a:t>
            </a:r>
          </a:p>
          <a:p>
            <a:r>
              <a:rPr lang="en-US"/>
              <a:t>Fragile</a:t>
            </a:r>
          </a:p>
        </p:txBody>
      </p:sp>
      <p:pic>
        <p:nvPicPr>
          <p:cNvPr id="4" name="Picture 3" descr="A cartoon of a person with purple hair&#10;&#10;Description automatically generated">
            <a:extLst>
              <a:ext uri="{FF2B5EF4-FFF2-40B4-BE49-F238E27FC236}">
                <a16:creationId xmlns:a16="http://schemas.microsoft.com/office/drawing/2014/main" id="{9709431F-3D09-8765-9EA6-045131CC2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4715" y="72654"/>
            <a:ext cx="1873103" cy="1873103"/>
          </a:xfrm>
          <a:prstGeom prst="rect">
            <a:avLst/>
          </a:prstGeom>
        </p:spPr>
      </p:pic>
      <p:pic>
        <p:nvPicPr>
          <p:cNvPr id="5" name="Picture 4" descr="A white arrow in a square&#10;&#10;Description automatically generated">
            <a:extLst>
              <a:ext uri="{FF2B5EF4-FFF2-40B4-BE49-F238E27FC236}">
                <a16:creationId xmlns:a16="http://schemas.microsoft.com/office/drawing/2014/main" id="{BF73DE1F-3A62-DEA8-E3B2-D5C6AE5C3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4" y="5550195"/>
            <a:ext cx="1456662" cy="1456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A6338F-DD9C-D381-A917-A48EF69BE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150" y="2711450"/>
            <a:ext cx="1409700" cy="1435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03BE10-509A-2D3B-C33C-B6A918C43FD9}"/>
              </a:ext>
            </a:extLst>
          </p:cNvPr>
          <p:cNvSpPr txBox="1"/>
          <p:nvPr/>
        </p:nvSpPr>
        <p:spPr>
          <a:xfrm>
            <a:off x="301213" y="85875"/>
            <a:ext cx="6605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/>
              <a:t>In The Beginning… </a:t>
            </a:r>
          </a:p>
        </p:txBody>
      </p:sp>
    </p:spTree>
    <p:extLst>
      <p:ext uri="{BB962C8B-B14F-4D97-AF65-F5344CB8AC3E}">
        <p14:creationId xmlns:p14="http://schemas.microsoft.com/office/powerpoint/2010/main" val="322549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1371D-3C0A-405E-E835-CE06111E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BBD6-E582-E8DE-55AB-C392FF03A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Scripting!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4783F-6659-9F1F-E278-9391278E1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469" y="1941220"/>
            <a:ext cx="10515600" cy="1849084"/>
          </a:xfrm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r>
              <a:rPr lang="en-US" b="1">
                <a:solidFill>
                  <a:schemeClr val="bg1"/>
                </a:solidFill>
              </a:rPr>
              <a:t>Automation – Yay!</a:t>
            </a:r>
          </a:p>
          <a:p>
            <a:r>
              <a:rPr lang="en-US" b="1">
                <a:solidFill>
                  <a:schemeClr val="bg1"/>
                </a:solidFill>
              </a:rPr>
              <a:t>Inconsistency/Error prone - Boo</a:t>
            </a:r>
          </a:p>
          <a:p>
            <a:r>
              <a:rPr lang="en-US" b="1">
                <a:solidFill>
                  <a:schemeClr val="bg1"/>
                </a:solidFill>
              </a:rPr>
              <a:t>In-depth knowledge of the system</a:t>
            </a:r>
          </a:p>
          <a:p>
            <a:r>
              <a:rPr lang="en-US" b="1">
                <a:solidFill>
                  <a:schemeClr val="bg1"/>
                </a:solidFill>
              </a:rPr>
              <a:t>Examples - PowerShell, CMD/Batch, VBScript, JavaScript. Python </a:t>
            </a:r>
          </a:p>
        </p:txBody>
      </p:sp>
      <p:pic>
        <p:nvPicPr>
          <p:cNvPr id="4" name="Picture 3" descr="A cartoon of a person with purple hair&#10;&#10;Description automatically generated">
            <a:extLst>
              <a:ext uri="{FF2B5EF4-FFF2-40B4-BE49-F238E27FC236}">
                <a16:creationId xmlns:a16="http://schemas.microsoft.com/office/drawing/2014/main" id="{5C8156F2-A733-27A5-F621-1B7B25281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715" y="72654"/>
            <a:ext cx="1873103" cy="1873103"/>
          </a:xfrm>
          <a:prstGeom prst="rect">
            <a:avLst/>
          </a:prstGeom>
        </p:spPr>
      </p:pic>
      <p:pic>
        <p:nvPicPr>
          <p:cNvPr id="5" name="Picture 4" descr="A white arrow in a square&#10;&#10;Description automatically generated">
            <a:extLst>
              <a:ext uri="{FF2B5EF4-FFF2-40B4-BE49-F238E27FC236}">
                <a16:creationId xmlns:a16="http://schemas.microsoft.com/office/drawing/2014/main" id="{A700F2F6-25EA-8756-F605-7ABB628E5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" y="5550195"/>
            <a:ext cx="1456662" cy="1456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4AEDED-4BE6-7559-0A15-63AB0CA2D0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4077"/>
          <a:stretch>
            <a:fillRect/>
          </a:stretch>
        </p:blipFill>
        <p:spPr>
          <a:xfrm>
            <a:off x="3644411" y="4176761"/>
            <a:ext cx="5791715" cy="2681239"/>
          </a:xfrm>
          <a:prstGeom prst="rect">
            <a:avLst/>
          </a:prstGeom>
          <a:effectLst>
            <a:outerShdw blurRad="50800" dist="38100" sx="102000" sy="1020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481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0AB5A1-2F14-F117-7503-BDC6EC27E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EA53B-785B-DA20-ED45-741BFE7C4C2C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Configuration as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D2D0B-B809-2ACB-044B-E5833F964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Shift complexity to resources</a:t>
            </a:r>
          </a:p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Focus on declaring desired state</a:t>
            </a:r>
          </a:p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Configuration Management</a:t>
            </a:r>
          </a:p>
          <a:p>
            <a:endParaRPr lang="en-US" b="1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cartoon of a person with purple hair&#10;&#10;Description automatically generated">
            <a:extLst>
              <a:ext uri="{FF2B5EF4-FFF2-40B4-BE49-F238E27FC236}">
                <a16:creationId xmlns:a16="http://schemas.microsoft.com/office/drawing/2014/main" id="{D9962B3E-5230-D304-CC91-52839771E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715" y="72654"/>
            <a:ext cx="1873103" cy="1873103"/>
          </a:xfrm>
          <a:prstGeom prst="rect">
            <a:avLst/>
          </a:prstGeom>
        </p:spPr>
      </p:pic>
      <p:pic>
        <p:nvPicPr>
          <p:cNvPr id="5" name="Picture 4" descr="A white arrow in a square&#10;&#10;Description automatically generated">
            <a:extLst>
              <a:ext uri="{FF2B5EF4-FFF2-40B4-BE49-F238E27FC236}">
                <a16:creationId xmlns:a16="http://schemas.microsoft.com/office/drawing/2014/main" id="{8BD6E14D-4D60-7644-1903-FEBE8B8BD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" y="5550195"/>
            <a:ext cx="1456662" cy="145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0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3A3DFA-CDDC-F237-1739-F3331C07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E90292-E039-08DF-586D-0487F279C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BA56B6-A763-FB60-506D-8D246670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6624" y="901769"/>
            <a:ext cx="4970256" cy="3855397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390182-4B60-1970-9A2C-03E6BA097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6624" y="901769"/>
            <a:ext cx="4970256" cy="3855397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A032AE1-D25C-8F45-92BB-BCD80696E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E32D784-937D-15B6-222E-B6D51D900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9D8EACA-BCAC-4313-358C-47D63EF6D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9689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14D9EE-ED83-D69B-D3BE-52AA669DA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66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2C2FE2-0A1B-34ED-EC45-D4F1743B8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9229" y="798986"/>
            <a:ext cx="4970256" cy="3855397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D6792-2FD9-688E-4A86-AC1CF97F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003" y="1018596"/>
            <a:ext cx="4184101" cy="25778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Demo- DSC v3</a:t>
            </a:r>
            <a:b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Light and Dark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9C89BD-0696-6C7D-9C84-0D78601C9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6115" y="3453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45FC548-C94A-0FDC-A428-2F7BEB702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6115" y="345376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15A19F6-DC6D-D3E5-8F29-3CDAB688B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83019" y="4738591"/>
            <a:ext cx="2208981" cy="21194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2B1FB9E-123A-F917-CFCE-436D1A194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83019" y="4738591"/>
            <a:ext cx="2208981" cy="21194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2" name="Graphic 185">
            <a:extLst>
              <a:ext uri="{FF2B5EF4-FFF2-40B4-BE49-F238E27FC236}">
                <a16:creationId xmlns:a16="http://schemas.microsoft.com/office/drawing/2014/main" id="{3B2503DA-A89E-E43C-F48C-F24964E4E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43487" y="566243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98DAD90-EDD4-9544-D406-A628A5AD9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22C7DDF-D3DD-216D-0196-A5A6A92F6C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2FF172F-9881-8922-1BEF-5F5A7889D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DAD2095-5267-2EC4-A767-22D49243F4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9F358C6-52F7-FF49-6D07-5506C9894D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" name="Picture 2" descr="A white arrow in a square&#10;&#10;Description automatically generated">
            <a:extLst>
              <a:ext uri="{FF2B5EF4-FFF2-40B4-BE49-F238E27FC236}">
                <a16:creationId xmlns:a16="http://schemas.microsoft.com/office/drawing/2014/main" id="{403540A0-3DE7-7453-F00C-42360BE46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615" y="2580962"/>
            <a:ext cx="3217333" cy="3217333"/>
          </a:xfrm>
          <a:prstGeom prst="rect">
            <a:avLst/>
          </a:prstGeom>
        </p:spPr>
      </p:pic>
      <p:sp>
        <p:nvSpPr>
          <p:cNvPr id="39" name="Graphic 212">
            <a:extLst>
              <a:ext uri="{FF2B5EF4-FFF2-40B4-BE49-F238E27FC236}">
                <a16:creationId xmlns:a16="http://schemas.microsoft.com/office/drawing/2014/main" id="{8D60B796-4DC8-083F-D691-8691FE7E2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2063" y="2262962"/>
            <a:ext cx="622472" cy="62247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raphic 212">
            <a:extLst>
              <a:ext uri="{FF2B5EF4-FFF2-40B4-BE49-F238E27FC236}">
                <a16:creationId xmlns:a16="http://schemas.microsoft.com/office/drawing/2014/main" id="{B66A7A9B-ADAF-EB7B-0F2A-199D0EBA2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2063" y="2262962"/>
            <a:ext cx="622472" cy="62247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27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9B61008-502C-5832-9870-791B402BFED4}"/>
              </a:ext>
            </a:extLst>
          </p:cNvPr>
          <p:cNvSpPr/>
          <p:nvPr/>
        </p:nvSpPr>
        <p:spPr>
          <a:xfrm>
            <a:off x="7392099" y="3108653"/>
            <a:ext cx="4647492" cy="524594"/>
          </a:xfrm>
          <a:prstGeom prst="roundRect">
            <a:avLst/>
          </a:prstGeom>
          <a:solidFill>
            <a:schemeClr val="accent6">
              <a:alpha val="42622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16EEEC-A2C7-0E1C-E0D8-0B93EB4BBE97}"/>
              </a:ext>
            </a:extLst>
          </p:cNvPr>
          <p:cNvSpPr/>
          <p:nvPr/>
        </p:nvSpPr>
        <p:spPr>
          <a:xfrm>
            <a:off x="459580" y="367379"/>
            <a:ext cx="878916" cy="60275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C85C1-0A28-22D3-75C9-584996FFEDE1}"/>
              </a:ext>
            </a:extLst>
          </p:cNvPr>
          <p:cNvSpPr/>
          <p:nvPr/>
        </p:nvSpPr>
        <p:spPr>
          <a:xfrm>
            <a:off x="4096505" y="385311"/>
            <a:ext cx="1880818" cy="152240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DSC.exe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FDCBEA-485D-5487-4658-80FC8D25FC5D}"/>
              </a:ext>
            </a:extLst>
          </p:cNvPr>
          <p:cNvSpPr/>
          <p:nvPr/>
        </p:nvSpPr>
        <p:spPr>
          <a:xfrm>
            <a:off x="8870103" y="515415"/>
            <a:ext cx="1566472" cy="85858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Registry.exe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1EA9B3-14CA-0279-0C79-1E10062BC56D}"/>
              </a:ext>
            </a:extLst>
          </p:cNvPr>
          <p:cNvSpPr/>
          <p:nvPr/>
        </p:nvSpPr>
        <p:spPr>
          <a:xfrm>
            <a:off x="8866356" y="1715347"/>
            <a:ext cx="1570219" cy="88816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OSInfo.exe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F057EA7-3EF7-C560-870C-B81CA6EC974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376202" y="944709"/>
            <a:ext cx="6457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FBA391-FEF2-9CF1-066C-DB3B00585285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2981346" y="944709"/>
            <a:ext cx="1115159" cy="201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EB2BDC-EBD7-6982-03AF-46C58A536416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2714411" y="1146516"/>
            <a:ext cx="1382094" cy="1299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36B3113-AAAD-7A21-8CAF-74C5DE511043}"/>
              </a:ext>
            </a:extLst>
          </p:cNvPr>
          <p:cNvCxnSpPr>
            <a:cxnSpLocks/>
            <a:stCxn id="5" idx="3"/>
            <a:endCxn id="61" idx="1"/>
          </p:cNvCxnSpPr>
          <p:nvPr/>
        </p:nvCxnSpPr>
        <p:spPr>
          <a:xfrm>
            <a:off x="5977323" y="1146516"/>
            <a:ext cx="1778383" cy="1004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EFF4A97-0B2C-7791-73C7-2C6486F70CE6}"/>
              </a:ext>
            </a:extLst>
          </p:cNvPr>
          <p:cNvCxnSpPr>
            <a:cxnSpLocks/>
            <a:stCxn id="5" idx="3"/>
            <a:endCxn id="76" idx="1"/>
          </p:cNvCxnSpPr>
          <p:nvPr/>
        </p:nvCxnSpPr>
        <p:spPr>
          <a:xfrm flipV="1">
            <a:off x="5977323" y="905623"/>
            <a:ext cx="1759021" cy="2408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61E6FCC-E7F0-39F9-55ED-C5791332ED80}"/>
              </a:ext>
            </a:extLst>
          </p:cNvPr>
          <p:cNvCxnSpPr>
            <a:cxnSpLocks/>
            <a:stCxn id="75" idx="3"/>
            <a:endCxn id="7" idx="1"/>
          </p:cNvCxnSpPr>
          <p:nvPr/>
        </p:nvCxnSpPr>
        <p:spPr>
          <a:xfrm flipV="1">
            <a:off x="8203721" y="944708"/>
            <a:ext cx="666382" cy="49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09DDAF4-C4FF-386C-9BC0-FB5FC5F2ECFC}"/>
              </a:ext>
            </a:extLst>
          </p:cNvPr>
          <p:cNvCxnSpPr>
            <a:cxnSpLocks/>
            <a:stCxn id="54" idx="0"/>
            <a:endCxn id="5" idx="2"/>
          </p:cNvCxnSpPr>
          <p:nvPr/>
        </p:nvCxnSpPr>
        <p:spPr>
          <a:xfrm flipV="1">
            <a:off x="5030932" y="1907720"/>
            <a:ext cx="5982" cy="5062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54B57EE-5B10-054B-AD76-B2282382DC14}"/>
              </a:ext>
            </a:extLst>
          </p:cNvPr>
          <p:cNvGrpSpPr/>
          <p:nvPr/>
        </p:nvGrpSpPr>
        <p:grpSpPr>
          <a:xfrm>
            <a:off x="2250123" y="2149460"/>
            <a:ext cx="467377" cy="563982"/>
            <a:chOff x="3996944" y="1630578"/>
            <a:chExt cx="467377" cy="563982"/>
          </a:xfrm>
        </p:grpSpPr>
        <p:sp>
          <p:nvSpPr>
            <p:cNvPr id="36" name="Folded Corner 15">
              <a:extLst>
                <a:ext uri="{FF2B5EF4-FFF2-40B4-BE49-F238E27FC236}">
                  <a16:creationId xmlns:a16="http://schemas.microsoft.com/office/drawing/2014/main" id="{E6DBA285-21EE-0403-30E2-CB709B381783}"/>
                </a:ext>
              </a:extLst>
            </p:cNvPr>
            <p:cNvSpPr/>
            <p:nvPr/>
          </p:nvSpPr>
          <p:spPr>
            <a:xfrm>
              <a:off x="4035670" y="1640549"/>
              <a:ext cx="428651" cy="554011"/>
            </a:xfrm>
            <a:prstGeom prst="foldedCorne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7" name="Picture 4" descr="Json file - Free interface icons">
              <a:extLst>
                <a:ext uri="{FF2B5EF4-FFF2-40B4-BE49-F238E27FC236}">
                  <a16:creationId xmlns:a16="http://schemas.microsoft.com/office/drawing/2014/main" id="{4119E0D9-94F7-4C0E-7E07-A666830FCF3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795"/>
            <a:stretch/>
          </p:blipFill>
          <p:spPr bwMode="auto">
            <a:xfrm>
              <a:off x="3996944" y="1630578"/>
              <a:ext cx="467377" cy="4858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E0EAF04-23F7-D80D-77E7-5325F8DC00DE}"/>
              </a:ext>
            </a:extLst>
          </p:cNvPr>
          <p:cNvCxnSpPr>
            <a:cxnSpLocks/>
          </p:cNvCxnSpPr>
          <p:nvPr/>
        </p:nvCxnSpPr>
        <p:spPr>
          <a:xfrm flipH="1">
            <a:off x="1309183" y="2392366"/>
            <a:ext cx="940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C88B9D2-AEE4-2A3C-BDF3-60502AE63ED8}"/>
              </a:ext>
            </a:extLst>
          </p:cNvPr>
          <p:cNvGrpSpPr/>
          <p:nvPr/>
        </p:nvGrpSpPr>
        <p:grpSpPr>
          <a:xfrm>
            <a:off x="4797243" y="2413984"/>
            <a:ext cx="467377" cy="563982"/>
            <a:chOff x="3996944" y="1630578"/>
            <a:chExt cx="467377" cy="563982"/>
          </a:xfrm>
        </p:grpSpPr>
        <p:sp>
          <p:nvSpPr>
            <p:cNvPr id="52" name="Folded Corner 15">
              <a:extLst>
                <a:ext uri="{FF2B5EF4-FFF2-40B4-BE49-F238E27FC236}">
                  <a16:creationId xmlns:a16="http://schemas.microsoft.com/office/drawing/2014/main" id="{DEB98493-8F0D-8CEE-D87C-145D1F9A6351}"/>
                </a:ext>
              </a:extLst>
            </p:cNvPr>
            <p:cNvSpPr/>
            <p:nvPr/>
          </p:nvSpPr>
          <p:spPr>
            <a:xfrm>
              <a:off x="4035670" y="1640549"/>
              <a:ext cx="428651" cy="554011"/>
            </a:xfrm>
            <a:prstGeom prst="foldedCorne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4" name="Picture 4" descr="Json file - Free interface icons">
              <a:extLst>
                <a:ext uri="{FF2B5EF4-FFF2-40B4-BE49-F238E27FC236}">
                  <a16:creationId xmlns:a16="http://schemas.microsoft.com/office/drawing/2014/main" id="{1B7D9084-D11D-49C4-6337-936FED1574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795"/>
            <a:stretch/>
          </p:blipFill>
          <p:spPr bwMode="auto">
            <a:xfrm>
              <a:off x="3996944" y="1630578"/>
              <a:ext cx="467377" cy="4858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166CBF9-2704-4B6F-96DA-F111AB87B935}"/>
              </a:ext>
            </a:extLst>
          </p:cNvPr>
          <p:cNvGrpSpPr/>
          <p:nvPr/>
        </p:nvGrpSpPr>
        <p:grpSpPr>
          <a:xfrm>
            <a:off x="7755706" y="1907720"/>
            <a:ext cx="467377" cy="563982"/>
            <a:chOff x="3996944" y="1630578"/>
            <a:chExt cx="467377" cy="563982"/>
          </a:xfrm>
        </p:grpSpPr>
        <p:sp>
          <p:nvSpPr>
            <p:cNvPr id="60" name="Folded Corner 15">
              <a:extLst>
                <a:ext uri="{FF2B5EF4-FFF2-40B4-BE49-F238E27FC236}">
                  <a16:creationId xmlns:a16="http://schemas.microsoft.com/office/drawing/2014/main" id="{207FD8D2-960C-4EA4-84EE-8F3E113A8722}"/>
                </a:ext>
              </a:extLst>
            </p:cNvPr>
            <p:cNvSpPr/>
            <p:nvPr/>
          </p:nvSpPr>
          <p:spPr>
            <a:xfrm>
              <a:off x="4035670" y="1640549"/>
              <a:ext cx="428651" cy="554011"/>
            </a:xfrm>
            <a:prstGeom prst="foldedCorne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1" name="Picture 4" descr="Json file - Free interface icons">
              <a:extLst>
                <a:ext uri="{FF2B5EF4-FFF2-40B4-BE49-F238E27FC236}">
                  <a16:creationId xmlns:a16="http://schemas.microsoft.com/office/drawing/2014/main" id="{08556AB6-C800-D08B-B26D-C2D6E313A0D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795"/>
            <a:stretch/>
          </p:blipFill>
          <p:spPr bwMode="auto">
            <a:xfrm>
              <a:off x="3996944" y="1630578"/>
              <a:ext cx="467377" cy="4858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4EBE6E9-150C-8F18-E2EF-3340181111C2}"/>
              </a:ext>
            </a:extLst>
          </p:cNvPr>
          <p:cNvGrpSpPr/>
          <p:nvPr/>
        </p:nvGrpSpPr>
        <p:grpSpPr>
          <a:xfrm>
            <a:off x="7736344" y="662717"/>
            <a:ext cx="467377" cy="563982"/>
            <a:chOff x="3996944" y="1630578"/>
            <a:chExt cx="467377" cy="563982"/>
          </a:xfrm>
        </p:grpSpPr>
        <p:sp>
          <p:nvSpPr>
            <p:cNvPr id="75" name="Folded Corner 15">
              <a:extLst>
                <a:ext uri="{FF2B5EF4-FFF2-40B4-BE49-F238E27FC236}">
                  <a16:creationId xmlns:a16="http://schemas.microsoft.com/office/drawing/2014/main" id="{3E6E9C0A-BE2F-3490-E71E-C086DB2982B2}"/>
                </a:ext>
              </a:extLst>
            </p:cNvPr>
            <p:cNvSpPr/>
            <p:nvPr/>
          </p:nvSpPr>
          <p:spPr>
            <a:xfrm>
              <a:off x="4035670" y="1640549"/>
              <a:ext cx="428651" cy="554011"/>
            </a:xfrm>
            <a:prstGeom prst="foldedCorne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4" descr="Json file - Free interface icons">
              <a:extLst>
                <a:ext uri="{FF2B5EF4-FFF2-40B4-BE49-F238E27FC236}">
                  <a16:creationId xmlns:a16="http://schemas.microsoft.com/office/drawing/2014/main" id="{EF0EFE22-5B9A-19EE-F184-D6E23F0D53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795"/>
            <a:stretch/>
          </p:blipFill>
          <p:spPr bwMode="auto">
            <a:xfrm>
              <a:off x="3996944" y="1630578"/>
              <a:ext cx="467377" cy="4858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F397E8C-3CEA-7D70-1B42-429811075066}"/>
              </a:ext>
            </a:extLst>
          </p:cNvPr>
          <p:cNvGrpSpPr/>
          <p:nvPr/>
        </p:nvGrpSpPr>
        <p:grpSpPr>
          <a:xfrm>
            <a:off x="2021976" y="376230"/>
            <a:ext cx="959370" cy="1136957"/>
            <a:chOff x="2021976" y="376230"/>
            <a:chExt cx="959370" cy="1136957"/>
          </a:xfrm>
        </p:grpSpPr>
        <p:sp>
          <p:nvSpPr>
            <p:cNvPr id="6" name="Folded Corner 5">
              <a:extLst>
                <a:ext uri="{FF2B5EF4-FFF2-40B4-BE49-F238E27FC236}">
                  <a16:creationId xmlns:a16="http://schemas.microsoft.com/office/drawing/2014/main" id="{887101F4-7918-42AD-1C69-82A8EB315898}"/>
                </a:ext>
              </a:extLst>
            </p:cNvPr>
            <p:cNvSpPr/>
            <p:nvPr/>
          </p:nvSpPr>
          <p:spPr>
            <a:xfrm>
              <a:off x="2021976" y="376230"/>
              <a:ext cx="959370" cy="1136957"/>
            </a:xfrm>
            <a:prstGeom prst="foldedCorne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E7E6E6">
                      <a:lumMod val="1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Config</a:t>
              </a:r>
            </a:p>
          </p:txBody>
        </p:sp>
        <p:pic>
          <p:nvPicPr>
            <p:cNvPr id="1026" name="Picture 2" descr="Document, file, format, yaml icon - Download on Iconfinder">
              <a:extLst>
                <a:ext uri="{FF2B5EF4-FFF2-40B4-BE49-F238E27FC236}">
                  <a16:creationId xmlns:a16="http://schemas.microsoft.com/office/drawing/2014/main" id="{30EF328F-7143-F053-F7B5-A3C7AFA1D6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037" y="715305"/>
              <a:ext cx="639580" cy="6395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7A316FA-301E-D15F-423F-2D048E195962}"/>
              </a:ext>
            </a:extLst>
          </p:cNvPr>
          <p:cNvSpPr/>
          <p:nvPr/>
        </p:nvSpPr>
        <p:spPr>
          <a:xfrm>
            <a:off x="4038458" y="4680417"/>
            <a:ext cx="2023672" cy="80946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Pwsh.exe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68317-FD69-CE52-571D-61CC877F306D}"/>
              </a:ext>
            </a:extLst>
          </p:cNvPr>
          <p:cNvSpPr/>
          <p:nvPr/>
        </p:nvSpPr>
        <p:spPr>
          <a:xfrm>
            <a:off x="3213729" y="5762193"/>
            <a:ext cx="1502764" cy="80572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 Resource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887613-649D-EDCF-EAE2-0946E5249F35}"/>
              </a:ext>
            </a:extLst>
          </p:cNvPr>
          <p:cNvSpPr/>
          <p:nvPr/>
        </p:nvSpPr>
        <p:spPr>
          <a:xfrm>
            <a:off x="5440262" y="5762193"/>
            <a:ext cx="1416571" cy="80572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C000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Script Resource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C000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Calibri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9261314-1083-B5E3-E7FC-ABC20113A034}"/>
              </a:ext>
            </a:extLst>
          </p:cNvPr>
          <p:cNvCxnSpPr>
            <a:cxnSpLocks/>
            <a:stCxn id="116" idx="2"/>
            <a:endCxn id="10" idx="0"/>
          </p:cNvCxnSpPr>
          <p:nvPr/>
        </p:nvCxnSpPr>
        <p:spPr>
          <a:xfrm>
            <a:off x="5050294" y="4285158"/>
            <a:ext cx="0" cy="3952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A68BFC6-2BF2-CD6E-FF4C-F61D66D24C7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3965111" y="5489885"/>
            <a:ext cx="1085183" cy="272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3807C4C-C73A-779C-BDB3-5E6663977475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5050294" y="5489885"/>
            <a:ext cx="1098254" cy="2723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630F34E-4C3B-79A7-C6EB-EA6298BE82B2}"/>
              </a:ext>
            </a:extLst>
          </p:cNvPr>
          <p:cNvSpPr/>
          <p:nvPr/>
        </p:nvSpPr>
        <p:spPr>
          <a:xfrm>
            <a:off x="4038458" y="3384755"/>
            <a:ext cx="2023672" cy="900403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1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PSGroup.exe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D3F40BD-1008-DE4E-C9B8-777DEF4F278E}"/>
              </a:ext>
            </a:extLst>
          </p:cNvPr>
          <p:cNvCxnSpPr>
            <a:cxnSpLocks/>
            <a:stCxn id="52" idx="2"/>
            <a:endCxn id="116" idx="0"/>
          </p:cNvCxnSpPr>
          <p:nvPr/>
        </p:nvCxnSpPr>
        <p:spPr>
          <a:xfrm flipH="1">
            <a:off x="5050294" y="2977966"/>
            <a:ext cx="1" cy="4067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7D98218B-B9C2-8731-604F-79BE8F161141}"/>
              </a:ext>
            </a:extLst>
          </p:cNvPr>
          <p:cNvSpPr/>
          <p:nvPr/>
        </p:nvSpPr>
        <p:spPr>
          <a:xfrm>
            <a:off x="136122" y="186825"/>
            <a:ext cx="125136" cy="1288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2BF64D6F-1DA3-7498-1157-476F534C70DD}"/>
              </a:ext>
            </a:extLst>
          </p:cNvPr>
          <p:cNvCxnSpPr>
            <a:cxnSpLocks/>
            <a:stCxn id="61" idx="3"/>
            <a:endCxn id="8" idx="1"/>
          </p:cNvCxnSpPr>
          <p:nvPr/>
        </p:nvCxnSpPr>
        <p:spPr>
          <a:xfrm>
            <a:off x="8223083" y="2150626"/>
            <a:ext cx="643273" cy="88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Content Placeholder 2">
            <a:extLst>
              <a:ext uri="{FF2B5EF4-FFF2-40B4-BE49-F238E27FC236}">
                <a16:creationId xmlns:a16="http://schemas.microsoft.com/office/drawing/2014/main" id="{B76B2B50-A09C-ECA3-F712-8740DA587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2100" y="3101289"/>
            <a:ext cx="4799900" cy="346662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>
                <a:cs typeface="Calibri"/>
              </a:rPr>
              <a:t>Configuration schema a subset of ARM template schema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>
                <a:cs typeface="Calibri"/>
              </a:rPr>
              <a:t>YAML support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>
                <a:cs typeface="Calibri"/>
              </a:rPr>
              <a:t>Resource simplification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>
                <a:cs typeface="Calibri"/>
              </a:rPr>
              <a:t>Command-based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>
                <a:cs typeface="Calibri"/>
              </a:rPr>
              <a:t>Get required, Set optional, Test optional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>
                <a:cs typeface="Calibri"/>
              </a:rPr>
              <a:t>Returning current state after Set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>
                <a:cs typeface="Calibri"/>
              </a:rPr>
              <a:t>Returning differences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>
                <a:cs typeface="Calibri"/>
              </a:rPr>
              <a:t>Group Resources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>
                <a:cs typeface="Calibri"/>
              </a:rPr>
              <a:t>Assertions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>
                <a:cs typeface="Calibri"/>
              </a:rPr>
              <a:t>Parallelism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 err="1">
                <a:cs typeface="Calibri"/>
              </a:rPr>
              <a:t>PowerShellGroup</a:t>
            </a:r>
            <a:endParaRPr lang="en-US" sz="1600" b="1">
              <a:cs typeface="Calibri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1600" b="1">
                <a:cs typeface="Calibri"/>
              </a:rPr>
            </a:br>
            <a:r>
              <a:rPr lang="en-US" sz="1600" b="1">
                <a:cs typeface="Calibri"/>
              </a:rPr>
              <a:t>PowerShell Resource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1ED7A8-BE17-9806-826C-577198B30E65}"/>
              </a:ext>
            </a:extLst>
          </p:cNvPr>
          <p:cNvSpPr/>
          <p:nvPr/>
        </p:nvSpPr>
        <p:spPr>
          <a:xfrm>
            <a:off x="7392098" y="5967829"/>
            <a:ext cx="4647492" cy="554011"/>
          </a:xfrm>
          <a:prstGeom prst="roundRect">
            <a:avLst/>
          </a:prstGeom>
          <a:solidFill>
            <a:schemeClr val="accent4">
              <a:alpha val="42622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8418E79-011E-94A4-8852-A754711CC3B9}"/>
              </a:ext>
            </a:extLst>
          </p:cNvPr>
          <p:cNvSpPr/>
          <p:nvPr/>
        </p:nvSpPr>
        <p:spPr>
          <a:xfrm>
            <a:off x="7392098" y="3672634"/>
            <a:ext cx="4647492" cy="1196006"/>
          </a:xfrm>
          <a:prstGeom prst="roundRect">
            <a:avLst/>
          </a:prstGeom>
          <a:solidFill>
            <a:schemeClr val="accent1">
              <a:alpha val="42622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B4AC025-7C19-C207-C7F5-B229B0C43004}"/>
              </a:ext>
            </a:extLst>
          </p:cNvPr>
          <p:cNvSpPr/>
          <p:nvPr/>
        </p:nvSpPr>
        <p:spPr>
          <a:xfrm>
            <a:off x="7392098" y="4906403"/>
            <a:ext cx="4647492" cy="1004110"/>
          </a:xfrm>
          <a:prstGeom prst="roundRect">
            <a:avLst/>
          </a:prstGeom>
          <a:solidFill>
            <a:schemeClr val="accent3">
              <a:alpha val="42622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992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616AF-2D9B-608A-9463-77C712C36C82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DSC v1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F0E91-70B9-E158-C8ED-DFB0FFD26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DSC v1</a:t>
            </a:r>
          </a:p>
          <a:p>
            <a:pPr lvl="1"/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Windows Server focused</a:t>
            </a:r>
          </a:p>
          <a:p>
            <a:pPr lvl="1"/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Local Configuration Manager (LCM)</a:t>
            </a:r>
          </a:p>
          <a:p>
            <a:pPr lvl="1"/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MOF configuration and schema</a:t>
            </a:r>
          </a:p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DSC v2</a:t>
            </a:r>
          </a:p>
          <a:p>
            <a:pPr lvl="1"/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Windows Server focused – but for Azure</a:t>
            </a:r>
          </a:p>
          <a:p>
            <a:pPr lvl="1"/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 LCM – Azure Machine Config</a:t>
            </a:r>
          </a:p>
          <a:p>
            <a:endParaRPr lang="en-US"/>
          </a:p>
        </p:txBody>
      </p:sp>
      <p:pic>
        <p:nvPicPr>
          <p:cNvPr id="4" name="Picture 3" descr="A cartoon of a person with purple hair&#10;&#10;Description automatically generated">
            <a:extLst>
              <a:ext uri="{FF2B5EF4-FFF2-40B4-BE49-F238E27FC236}">
                <a16:creationId xmlns:a16="http://schemas.microsoft.com/office/drawing/2014/main" id="{EB5543A1-81E6-C5D3-2F5E-FC39D66B7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715" y="72654"/>
            <a:ext cx="1873103" cy="1873103"/>
          </a:xfrm>
          <a:prstGeom prst="rect">
            <a:avLst/>
          </a:prstGeom>
        </p:spPr>
      </p:pic>
      <p:pic>
        <p:nvPicPr>
          <p:cNvPr id="5" name="Picture 4" descr="A white arrow in a square&#10;&#10;Description automatically generated">
            <a:extLst>
              <a:ext uri="{FF2B5EF4-FFF2-40B4-BE49-F238E27FC236}">
                <a16:creationId xmlns:a16="http://schemas.microsoft.com/office/drawing/2014/main" id="{EE490A8B-C2F8-FCAF-7C48-B07B7EAEB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" y="5550195"/>
            <a:ext cx="1456662" cy="145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82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67CC9-CA20-ED40-4391-CD82BE582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DSC v3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8B4E7-210C-A2F7-4282-3E9FA91F5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ln>
                  <a:solidFill>
                    <a:prstClr val="black"/>
                  </a:solidFill>
                </a:ln>
                <a:solidFill>
                  <a:schemeClr val="bg1"/>
                </a:solidFill>
                <a:cs typeface="Calibri"/>
              </a:rPr>
              <a:t>A reimagining of DSC: revolutionary, not evolutionary</a:t>
            </a:r>
            <a:endParaRPr lang="en-US" b="1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Cross-platform and Open Source</a:t>
            </a:r>
            <a:endParaRPr lang="en-US">
              <a:solidFill>
                <a:schemeClr val="bg1"/>
              </a:solidFill>
            </a:endParaRPr>
          </a:p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Decoupled from PowerShell</a:t>
            </a:r>
          </a:p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WinPS5.1 and PS7 resources supported</a:t>
            </a:r>
          </a:p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Resources written in any language</a:t>
            </a:r>
            <a:endParaRPr lang="en-US" b="1">
              <a:ln>
                <a:solidFill>
                  <a:prstClr val="black"/>
                </a:solidFill>
              </a:ln>
              <a:solidFill>
                <a:schemeClr val="bg1"/>
              </a:solidFill>
              <a:cs typeface="Calibri"/>
            </a:endParaRPr>
          </a:p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 more MOF -&gt; JSON</a:t>
            </a:r>
            <a:endParaRPr lang="en-US" b="1">
              <a:ln>
                <a:solidFill>
                  <a:prstClr val="black"/>
                </a:solidFill>
              </a:ln>
              <a:solidFill>
                <a:schemeClr val="bg1"/>
              </a:solidFill>
              <a:cs typeface="Calibri"/>
            </a:endParaRPr>
          </a:p>
          <a:p>
            <a:r>
              <a:rPr lang="en-US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Windows Server, Client, Linux, Applications, Services, IOT, Game devices and more</a:t>
            </a:r>
          </a:p>
          <a:p>
            <a:endParaRPr lang="en-US"/>
          </a:p>
        </p:txBody>
      </p:sp>
      <p:pic>
        <p:nvPicPr>
          <p:cNvPr id="4" name="Picture 3" descr="A cartoon of a person with purple hair&#10;&#10;Description automatically generated">
            <a:extLst>
              <a:ext uri="{FF2B5EF4-FFF2-40B4-BE49-F238E27FC236}">
                <a16:creationId xmlns:a16="http://schemas.microsoft.com/office/drawing/2014/main" id="{385C8F4A-6105-44D2-920C-312725B03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715" y="72654"/>
            <a:ext cx="1873103" cy="1873103"/>
          </a:xfrm>
          <a:prstGeom prst="rect">
            <a:avLst/>
          </a:prstGeom>
        </p:spPr>
      </p:pic>
      <p:pic>
        <p:nvPicPr>
          <p:cNvPr id="5" name="Picture 4" descr="A white arrow in a square&#10;&#10;Description automatically generated">
            <a:extLst>
              <a:ext uri="{FF2B5EF4-FFF2-40B4-BE49-F238E27FC236}">
                <a16:creationId xmlns:a16="http://schemas.microsoft.com/office/drawing/2014/main" id="{00019A46-9C24-8584-4C1D-D3F445112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4" y="5550195"/>
            <a:ext cx="1456662" cy="145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54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1EF9-232C-C95F-74D3-80925F3A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Bicep</a:t>
            </a:r>
          </a:p>
        </p:txBody>
      </p:sp>
      <p:pic>
        <p:nvPicPr>
          <p:cNvPr id="5" name="Picture 4" descr="Dumbbell rack at gym">
            <a:extLst>
              <a:ext uri="{FF2B5EF4-FFF2-40B4-BE49-F238E27FC236}">
                <a16:creationId xmlns:a16="http://schemas.microsoft.com/office/drawing/2014/main" id="{EA580693-F578-89BA-0E62-B40736FA4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01" b="21857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9457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6936A5-BAA1-84EE-857F-A022F544A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07EBE86-AB18-79F9-9864-176C22039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F6C871-70C2-0566-1CC5-B923348FF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6624" y="901769"/>
            <a:ext cx="4970256" cy="3855397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9279D6-E9BA-A3E4-DB27-4FE3401C7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6624" y="901769"/>
            <a:ext cx="4970256" cy="3855397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C2573E-877C-3F8D-43E3-8E354A5E9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472485D-1B59-3549-50EE-96514A7C7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1792318-54EB-7C4C-E623-F38CD6823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9689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CA42A09-5A9E-0938-E911-AC077932B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66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032EF5-F3F6-D607-A3AD-499A19E40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9229" y="798986"/>
            <a:ext cx="4970256" cy="3855397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02562F-2946-BB12-3E33-6A16B04A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003" y="1018596"/>
            <a:ext cx="4184101" cy="25778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Demo- DSC v3</a:t>
            </a:r>
            <a:b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DSC v1, DSC v3, Bicep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1A74723-2B2D-F6CF-FA45-47115A74B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6115" y="3453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3AF47A4-1A55-ABD3-6911-6484B9354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6115" y="345376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393045-B2D4-9246-8AC0-DA245B10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83019" y="4738591"/>
            <a:ext cx="2208981" cy="21194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CB61F11-55FB-054E-D853-A85796BBB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83019" y="4738591"/>
            <a:ext cx="2208981" cy="21194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2" name="Graphic 185">
            <a:extLst>
              <a:ext uri="{FF2B5EF4-FFF2-40B4-BE49-F238E27FC236}">
                <a16:creationId xmlns:a16="http://schemas.microsoft.com/office/drawing/2014/main" id="{D8B507A2-02C4-1CCF-7800-4757A0AFF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43487" y="566243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5F7B289-B87E-307B-2C88-3A7203692B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E7CCCEA-719D-3218-CEF0-BA6596FF7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8CC0F1B-15EC-4943-8CA1-5C5FC95E54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6F92C59-B464-9F26-86B6-ABA3B08046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B34CA5D-76E6-DFDF-0F90-E5CE4A4C1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" name="Picture 2" descr="A white arrow in a square&#10;&#10;Description automatically generated">
            <a:extLst>
              <a:ext uri="{FF2B5EF4-FFF2-40B4-BE49-F238E27FC236}">
                <a16:creationId xmlns:a16="http://schemas.microsoft.com/office/drawing/2014/main" id="{2FA94170-0FC7-BF11-5747-49B7E5D5B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615" y="2580962"/>
            <a:ext cx="3217333" cy="3217333"/>
          </a:xfrm>
          <a:prstGeom prst="rect">
            <a:avLst/>
          </a:prstGeom>
        </p:spPr>
      </p:pic>
      <p:sp>
        <p:nvSpPr>
          <p:cNvPr id="39" name="Graphic 212">
            <a:extLst>
              <a:ext uri="{FF2B5EF4-FFF2-40B4-BE49-F238E27FC236}">
                <a16:creationId xmlns:a16="http://schemas.microsoft.com/office/drawing/2014/main" id="{2C90BAF2-E278-BAC0-F56F-AC6451A6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2063" y="2262962"/>
            <a:ext cx="622472" cy="62247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raphic 212">
            <a:extLst>
              <a:ext uri="{FF2B5EF4-FFF2-40B4-BE49-F238E27FC236}">
                <a16:creationId xmlns:a16="http://schemas.microsoft.com/office/drawing/2014/main" id="{54706C74-B52D-B87C-8702-3AB7CF347F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2063" y="2262962"/>
            <a:ext cx="622472" cy="62247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917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83A75-5691-987F-295F-A41ED459A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D3F4073-E73C-73FB-9653-449D2D412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3128AD-F516-F73B-0EB7-B13565B18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EBE9AE-F528-4688-A168-CA182680B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What does this mean?</a:t>
            </a:r>
            <a:br>
              <a:rPr lang="en-US" sz="5200" dirty="0">
                <a:solidFill>
                  <a:srgbClr val="FFFFFF"/>
                </a:solidFill>
              </a:rPr>
            </a:br>
            <a:r>
              <a:rPr lang="en-US" sz="5200" dirty="0">
                <a:solidFill>
                  <a:srgbClr val="FFFFFF"/>
                </a:solidFill>
                <a:sym typeface="Wingdings" pitchFamily="2" charset="2"/>
              </a:rPr>
              <a:t></a:t>
            </a:r>
            <a:r>
              <a:rPr lang="en-US" sz="5200" dirty="0">
                <a:solidFill>
                  <a:srgbClr val="FFFFFF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0887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D40DB4-CCC7-91B0-C093-2D41DDB32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FBF3EA-BB8C-CE08-4FF5-05F438351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A820C8-A52E-E4C8-3891-D3E835466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6624" y="901769"/>
            <a:ext cx="4970256" cy="3855397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79134D-F7FA-7C56-6995-A2BF24FEF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6624" y="901769"/>
            <a:ext cx="4970256" cy="3855397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C043C42-D398-D2AD-FADF-5FFA72168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575B9B0-3C07-3356-E873-60620C921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0EC255E-6952-16CF-7716-B62D6F2E6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9689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5A5B603-4E5F-A072-D362-BB36C19CA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66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67BF24-31A0-6F77-EAC0-EA18F7E4B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49229" y="798986"/>
            <a:ext cx="4970256" cy="3855397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2A763-BC54-7808-6D11-555E8B82B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6003" y="1018596"/>
            <a:ext cx="4184101" cy="25778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Demo- Configuring a Server Role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7B725F-2FAB-CB52-83E8-9B7AB137E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6115" y="3453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C67488-A28B-98A3-B694-441CDDF0F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6115" y="345376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105CA9D-55C4-BA5F-F7CD-D6EA355EF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83019" y="4738591"/>
            <a:ext cx="2208981" cy="21194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C126631-CD72-CD25-62E4-050BD5D3A7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83019" y="4738591"/>
            <a:ext cx="2208981" cy="211940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2" name="Graphic 185">
            <a:extLst>
              <a:ext uri="{FF2B5EF4-FFF2-40B4-BE49-F238E27FC236}">
                <a16:creationId xmlns:a16="http://schemas.microsoft.com/office/drawing/2014/main" id="{4DFA993E-8D54-7D36-63B8-F4A35CD25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43487" y="566243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06466C9-AF7C-7CEE-EDE6-CB9E17050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8E9644F-D503-015E-C120-3E74EA13F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DC3EC46-47D2-9EA3-E0F3-CA6B43AFE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1510146-4CA8-071C-B100-452432F4B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4057295-08C6-C4B3-5529-F59AB6CED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" name="Picture 2" descr="A white arrow in a square&#10;&#10;Description automatically generated">
            <a:extLst>
              <a:ext uri="{FF2B5EF4-FFF2-40B4-BE49-F238E27FC236}">
                <a16:creationId xmlns:a16="http://schemas.microsoft.com/office/drawing/2014/main" id="{D27150B0-7ECF-6B4A-24AC-37FB23619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615" y="2580962"/>
            <a:ext cx="3217333" cy="3217333"/>
          </a:xfrm>
          <a:prstGeom prst="rect">
            <a:avLst/>
          </a:prstGeom>
        </p:spPr>
      </p:pic>
      <p:sp>
        <p:nvSpPr>
          <p:cNvPr id="39" name="Graphic 212">
            <a:extLst>
              <a:ext uri="{FF2B5EF4-FFF2-40B4-BE49-F238E27FC236}">
                <a16:creationId xmlns:a16="http://schemas.microsoft.com/office/drawing/2014/main" id="{F4B5F690-ED37-8A8D-191D-0CD48E545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2063" y="2262962"/>
            <a:ext cx="622472" cy="62247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Graphic 212">
            <a:extLst>
              <a:ext uri="{FF2B5EF4-FFF2-40B4-BE49-F238E27FC236}">
                <a16:creationId xmlns:a16="http://schemas.microsoft.com/office/drawing/2014/main" id="{4BEC85A2-72F2-B1D0-8B73-ACBA9E082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2063" y="2262962"/>
            <a:ext cx="622472" cy="62247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351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63528-07D3-6BF7-AEE1-2A358E59A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Higher order tools	</a:t>
            </a:r>
          </a:p>
        </p:txBody>
      </p:sp>
    </p:spTree>
    <p:extLst>
      <p:ext uri="{BB962C8B-B14F-4D97-AF65-F5344CB8AC3E}">
        <p14:creationId xmlns:p14="http://schemas.microsoft.com/office/powerpoint/2010/main" val="21339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56F62-643F-1EA3-AFCC-7B2F25857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night&#10;&#10;Description automatically generated">
            <a:extLst>
              <a:ext uri="{FF2B5EF4-FFF2-40B4-BE49-F238E27FC236}">
                <a16:creationId xmlns:a16="http://schemas.microsoft.com/office/drawing/2014/main" id="{4B2D3E8A-DB58-866C-9F3B-C6FDAF05E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571500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1A025D-CC96-E676-1443-585CE5418337}"/>
              </a:ext>
            </a:extLst>
          </p:cNvPr>
          <p:cNvSpPr txBox="1"/>
          <p:nvPr/>
        </p:nvSpPr>
        <p:spPr>
          <a:xfrm>
            <a:off x="668950" y="334115"/>
            <a:ext cx="11213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V.Next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Beyond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9F9E4F-25CD-E043-D15B-7764723E80CA}"/>
              </a:ext>
            </a:extLst>
          </p:cNvPr>
          <p:cNvSpPr txBox="1"/>
          <p:nvPr/>
        </p:nvSpPr>
        <p:spPr>
          <a:xfrm>
            <a:off x="5041557" y="657280"/>
            <a:ext cx="72493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>
                <a:solidFill>
                  <a:schemeClr val="bg1"/>
                </a:solidFill>
              </a:rPr>
              <a:t>3.0 GA — March 2025</a:t>
            </a:r>
          </a:p>
          <a:p>
            <a:pPr lvl="0"/>
            <a:r>
              <a:rPr lang="en-US" sz="2800">
                <a:solidFill>
                  <a:schemeClr val="bg1"/>
                </a:solidFill>
              </a:rPr>
              <a:t>3.1 GA — June 2025</a:t>
            </a:r>
          </a:p>
          <a:p>
            <a:pPr lvl="0"/>
            <a:r>
              <a:rPr lang="en-US" sz="2800">
                <a:solidFill>
                  <a:schemeClr val="bg1"/>
                </a:solidFill>
              </a:rPr>
              <a:t>3.2 GA — April 2026</a:t>
            </a:r>
          </a:p>
          <a:p>
            <a:pPr lvl="0"/>
            <a:r>
              <a:rPr lang="en-US" sz="2800">
                <a:solidFill>
                  <a:schemeClr val="bg1"/>
                </a:solidFill>
              </a:rPr>
              <a:t>3.3 Preview.4 — Today</a:t>
            </a:r>
            <a:endParaRPr lang="en-US" sz="2800" i="1">
              <a:solidFill>
                <a:schemeClr val="bg1"/>
              </a:solidFill>
            </a:endParaRPr>
          </a:p>
          <a:p>
            <a:pPr lvl="0"/>
            <a:r>
              <a:rPr lang="en-US" sz="2800" i="1">
                <a:solidFill>
                  <a:schemeClr val="bg1"/>
                </a:solidFill>
              </a:rPr>
              <a:t>3.3 GA soon!</a:t>
            </a:r>
            <a:endParaRPr lang="en-US" sz="2800">
              <a:solidFill>
                <a:schemeClr val="bg1"/>
              </a:solidFill>
            </a:endParaRPr>
          </a:p>
          <a:p>
            <a:pPr lvl="0"/>
            <a:r>
              <a:rPr lang="en-US" sz="2800">
                <a:solidFill>
                  <a:schemeClr val="bg1"/>
                </a:solidFill>
              </a:rPr>
              <a:t>Heading toward Long Term Support (LTS) release </a:t>
            </a:r>
            <a:r>
              <a:rPr lang="en-US" sz="2800"/>
              <a:t>cadence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8A379C-873E-D3FD-FCBE-9645F3F6F43A}"/>
              </a:ext>
            </a:extLst>
          </p:cNvPr>
          <p:cNvSpPr/>
          <p:nvPr/>
        </p:nvSpPr>
        <p:spPr>
          <a:xfrm>
            <a:off x="163405" y="164018"/>
            <a:ext cx="97852" cy="11901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C6C568-7F2B-3F08-8173-3511A5CD1488}"/>
              </a:ext>
            </a:extLst>
          </p:cNvPr>
          <p:cNvSpPr txBox="1"/>
          <p:nvPr/>
        </p:nvSpPr>
        <p:spPr>
          <a:xfrm>
            <a:off x="4349578" y="5473005"/>
            <a:ext cx="79413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800">
                <a:solidFill>
                  <a:schemeClr val="bg1"/>
                </a:solidFill>
              </a:rPr>
              <a:t>GitHub: </a:t>
            </a:r>
            <a:r>
              <a:rPr lang="en-US" sz="280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github.com/PowerShell/DSC</a:t>
            </a:r>
            <a:endParaRPr lang="en-US" sz="2800">
              <a:solidFill>
                <a:schemeClr val="bg1"/>
              </a:solidFill>
            </a:endParaRPr>
          </a:p>
          <a:p>
            <a:pPr lvl="0"/>
            <a:r>
              <a:rPr lang="en-US" sz="2800">
                <a:solidFill>
                  <a:schemeClr val="bg1"/>
                </a:solidFill>
              </a:rPr>
              <a:t>Docs: </a:t>
            </a:r>
            <a:r>
              <a:rPr lang="en-US" sz="280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learn.microsoft.com/powershell/dsc/overview</a:t>
            </a:r>
            <a:endParaRPr lang="en-US" sz="2800">
              <a:solidFill>
                <a:schemeClr val="bg1"/>
              </a:solidFill>
            </a:endParaRPr>
          </a:p>
          <a:p>
            <a:pPr lvl="0"/>
            <a:r>
              <a:rPr lang="en-US" sz="2800"/>
              <a:t>cadence</a:t>
            </a:r>
          </a:p>
        </p:txBody>
      </p:sp>
    </p:spTree>
    <p:extLst>
      <p:ext uri="{BB962C8B-B14F-4D97-AF65-F5344CB8AC3E}">
        <p14:creationId xmlns:p14="http://schemas.microsoft.com/office/powerpoint/2010/main" val="41673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feedback is very important to us</a:t>
            </a:r>
          </a:p>
          <a:p>
            <a:r>
              <a:rPr lang="en-US" dirty="0"/>
              <a:t>Please take a moment to complete the session survey found in the mobile app</a:t>
            </a:r>
          </a:p>
          <a:p>
            <a:r>
              <a:rPr lang="en-US" dirty="0"/>
              <a:t>Use the QR code or search for “Converge360 Events” in your app store</a:t>
            </a:r>
          </a:p>
          <a:p>
            <a:r>
              <a:rPr lang="en-US" dirty="0"/>
              <a:t>Find this session on the Agenda tab</a:t>
            </a:r>
          </a:p>
          <a:p>
            <a:r>
              <a:rPr lang="en-US" dirty="0"/>
              <a:t>Click “Session Evaluation”</a:t>
            </a:r>
          </a:p>
          <a:p>
            <a:r>
              <a:rPr lang="en-US" dirty="0"/>
              <a:t>Thank you!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6ADC5-FFDB-8E80-E733-F5A772E05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33783" y="3937000"/>
            <a:ext cx="190303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14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c4c3fd3d-04d3-453a-9611-8e9b90c489ea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1470E9A9B7714184E5191FA99D1D5C" ma:contentTypeVersion="21" ma:contentTypeDescription="Create a new document." ma:contentTypeScope="" ma:versionID="3f97720bfe89b52c3f4c1e640c7008a4">
  <xsd:schema xmlns:xsd="http://www.w3.org/2001/XMLSchema" xmlns:xs="http://www.w3.org/2001/XMLSchema" xmlns:p="http://schemas.microsoft.com/office/2006/metadata/properties" xmlns:ns1="http://schemas.microsoft.com/sharepoint/v3" xmlns:ns2="c4c3fd3d-04d3-453a-9611-8e9b90c489ea" xmlns:ns3="8f4a553a-f3a5-49d8-9296-f814d5482c28" xmlns:ns4="230e9df3-be65-4c73-a93b-d1236ebd677e" targetNamespace="http://schemas.microsoft.com/office/2006/metadata/properties" ma:root="true" ma:fieldsID="75c39a7546e1d86994ab2edaf2ce8542" ns1:_="" ns2:_="" ns3:_="" ns4:_="">
    <xsd:import namespace="http://schemas.microsoft.com/sharepoint/v3"/>
    <xsd:import namespace="c4c3fd3d-04d3-453a-9611-8e9b90c489ea"/>
    <xsd:import namespace="8f4a553a-f3a5-49d8-9296-f814d5482c28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c3fd3d-04d3-453a-9611-8e9b90c489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7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a553a-f3a5-49d8-9296-f814d5482c2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2f607fcb-3c0a-4c3b-b146-5183f5b6aa25}" ma:internalName="TaxCatchAll" ma:showField="CatchAllData" ma:web="8f4a553a-f3a5-49d8-9296-f814d5482c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7AB003-A0AF-4743-ABC9-7D342CF108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CBC5CB-B13E-4791-8A6A-B7E7AC3ACEE0}">
  <ds:schemaRefs>
    <ds:schemaRef ds:uri="http://purl.org/dc/terms/"/>
    <ds:schemaRef ds:uri="http://schemas.microsoft.com/sharepoint/v3"/>
    <ds:schemaRef ds:uri="http://www.w3.org/XML/1998/namespace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purl.org/dc/dcmitype/"/>
    <ds:schemaRef ds:uri="8f4a553a-f3a5-49d8-9296-f814d5482c28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c4c3fd3d-04d3-453a-9611-8e9b90c489ea"/>
  </ds:schemaRefs>
</ds:datastoreItem>
</file>

<file path=customXml/itemProps3.xml><?xml version="1.0" encoding="utf-8"?>
<ds:datastoreItem xmlns:ds="http://schemas.openxmlformats.org/officeDocument/2006/customXml" ds:itemID="{AACAAC8D-5484-415C-9E08-39532E410E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4c3fd3d-04d3-453a-9611-8e9b90c489ea"/>
    <ds:schemaRef ds:uri="8f4a553a-f3a5-49d8-9296-f814d5482c28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</TotalTime>
  <Words>391</Words>
  <Application>Microsoft Office PowerPoint</Application>
  <PresentationFormat>Widescreen</PresentationFormat>
  <Paragraphs>85</Paragraphs>
  <Slides>16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Content</vt:lpstr>
      <vt:lpstr>Custom Design</vt:lpstr>
      <vt:lpstr>1_Custom Design</vt:lpstr>
      <vt:lpstr>PowerPoint Presentation</vt:lpstr>
      <vt:lpstr>PowerPoint Presentation</vt:lpstr>
      <vt:lpstr>PowerPoint Presentation</vt:lpstr>
      <vt:lpstr>Scripting!</vt:lpstr>
      <vt:lpstr>Configuration as code</vt:lpstr>
      <vt:lpstr>Demo- DSC v3 Light and Dark</vt:lpstr>
      <vt:lpstr>PowerPoint Presentation</vt:lpstr>
      <vt:lpstr>DSC v1</vt:lpstr>
      <vt:lpstr>DSC v3</vt:lpstr>
      <vt:lpstr>Bicep</vt:lpstr>
      <vt:lpstr>Demo- DSC v3 DSC v1, DSC v3, Bicep</vt:lpstr>
      <vt:lpstr>What does this mean?  </vt:lpstr>
      <vt:lpstr>Demo- Configuring a Server Role</vt:lpstr>
      <vt:lpstr>Higher order tools </vt:lpstr>
      <vt:lpstr>PowerPoint Presentation</vt:lpstr>
      <vt:lpstr>Session Survey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 v3</dc:title>
  <dc:creator>Steve Lee (POWERSHELL HE/HIM)</dc:creator>
  <cp:lastModifiedBy>Sean Wheeler</cp:lastModifiedBy>
  <cp:revision>12</cp:revision>
  <dcterms:created xsi:type="dcterms:W3CDTF">2023-02-22T20:51:26Z</dcterms:created>
  <dcterms:modified xsi:type="dcterms:W3CDTF">2026-08-04T21:12:29Z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0x010100721470E9A9B7714184E5191FA99D1D5C</vt:lpwstr>
  </property>
  <property fmtid="{D5CDD505-2E9C-101B-9397-08002B2CF9AE}" pid="3" name="MediaServiceImageTags">
    <vt:lpwstr/>
  </property>
</Properties>
</file>