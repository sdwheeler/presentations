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4" r:id="rId2"/>
  </p:sldMasterIdLst>
  <p:notesMasterIdLst>
    <p:notesMasterId r:id="rId19"/>
  </p:notesMasterIdLst>
  <p:sldIdLst>
    <p:sldId id="272" r:id="rId3"/>
    <p:sldId id="275" r:id="rId4"/>
    <p:sldId id="257" r:id="rId5"/>
    <p:sldId id="264" r:id="rId6"/>
    <p:sldId id="261" r:id="rId7"/>
    <p:sldId id="256" r:id="rId8"/>
    <p:sldId id="262" r:id="rId9"/>
    <p:sldId id="268" r:id="rId10"/>
    <p:sldId id="270" r:id="rId11"/>
    <p:sldId id="271" r:id="rId12"/>
    <p:sldId id="263" r:id="rId13"/>
    <p:sldId id="274" r:id="rId14"/>
    <p:sldId id="269" r:id="rId15"/>
    <p:sldId id="258" r:id="rId16"/>
    <p:sldId id="259" r:id="rId17"/>
    <p:sldId id="26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02037-F3F2-4BE0-B654-C184553E52F5}" v="232" dt="2026-07-09T19:23:58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83313" autoAdjust="0"/>
  </p:normalViewPr>
  <p:slideViewPr>
    <p:cSldViewPr snapToGrid="0">
      <p:cViewPr varScale="1">
        <p:scale>
          <a:sx n="123" d="100"/>
          <a:sy n="123" d="100"/>
        </p:scale>
        <p:origin x="4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Wheeler" userId="8b895b7b-8e8a-4413-8039-92948f5315b9" providerId="ADAL" clId="{731068E6-5077-4FB3-869C-4E68B251A54E}"/>
    <pc:docChg chg="undo custSel modSld modShowInfo">
      <pc:chgData name="Sean Wheeler" userId="8b895b7b-8e8a-4413-8039-92948f5315b9" providerId="ADAL" clId="{731068E6-5077-4FB3-869C-4E68B251A54E}" dt="2026-07-09T19:23:58.179" v="246"/>
      <pc:docMkLst>
        <pc:docMk/>
      </pc:docMkLst>
      <pc:sldChg chg="modSp mod">
        <pc:chgData name="Sean Wheeler" userId="8b895b7b-8e8a-4413-8039-92948f5315b9" providerId="ADAL" clId="{731068E6-5077-4FB3-869C-4E68B251A54E}" dt="2026-07-09T19:22:07.761" v="239" actId="339"/>
        <pc:sldMkLst>
          <pc:docMk/>
          <pc:sldMk cId="3562114069" sldId="261"/>
        </pc:sldMkLst>
        <pc:picChg chg="mod">
          <ac:chgData name="Sean Wheeler" userId="8b895b7b-8e8a-4413-8039-92948f5315b9" providerId="ADAL" clId="{731068E6-5077-4FB3-869C-4E68B251A54E}" dt="2026-07-09T19:22:07.761" v="239" actId="339"/>
          <ac:picMkLst>
            <pc:docMk/>
            <pc:sldMk cId="3562114069" sldId="261"/>
            <ac:picMk id="35" creationId="{7155B1DB-7996-4E68-EB09-02165696CCD8}"/>
          </ac:picMkLst>
        </pc:picChg>
      </pc:sldChg>
      <pc:sldChg chg="modSp">
        <pc:chgData name="Sean Wheeler" userId="8b895b7b-8e8a-4413-8039-92948f5315b9" providerId="ADAL" clId="{731068E6-5077-4FB3-869C-4E68B251A54E}" dt="2026-07-09T19:23:58.179" v="246"/>
        <pc:sldMkLst>
          <pc:docMk/>
          <pc:sldMk cId="2160878122" sldId="262"/>
        </pc:sldMkLst>
        <pc:picChg chg="mod">
          <ac:chgData name="Sean Wheeler" userId="8b895b7b-8e8a-4413-8039-92948f5315b9" providerId="ADAL" clId="{731068E6-5077-4FB3-869C-4E68B251A54E}" dt="2026-07-09T19:23:58.179" v="246"/>
          <ac:picMkLst>
            <pc:docMk/>
            <pc:sldMk cId="2160878122" sldId="262"/>
            <ac:picMk id="7" creationId="{4F610A63-A414-E1E0-4597-7FA77AA99EE1}"/>
          </ac:picMkLst>
        </pc:picChg>
      </pc:sldChg>
      <pc:sldChg chg="modSp mod setBg">
        <pc:chgData name="Sean Wheeler" userId="8b895b7b-8e8a-4413-8039-92948f5315b9" providerId="ADAL" clId="{731068E6-5077-4FB3-869C-4E68B251A54E}" dt="2026-07-09T19:07:11.025" v="150"/>
        <pc:sldMkLst>
          <pc:docMk/>
          <pc:sldMk cId="1717268869" sldId="263"/>
        </pc:sldMkLst>
        <pc:spChg chg="mod">
          <ac:chgData name="Sean Wheeler" userId="8b895b7b-8e8a-4413-8039-92948f5315b9" providerId="ADAL" clId="{731068E6-5077-4FB3-869C-4E68B251A54E}" dt="2026-07-09T19:05:53.796" v="3" actId="1076"/>
          <ac:spMkLst>
            <pc:docMk/>
            <pc:sldMk cId="1717268869" sldId="263"/>
            <ac:spMk id="4" creationId="{9754A49F-C41C-A0CC-8AD2-9BE228D728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326DE0-BACA-4EA0-B73F-CC7DC1D7F4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395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99CF5-70D0-4BA0-31FC-75CC85079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72BD0-C611-AF8C-69D2-989EC0C90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B0467-DFA0-6BA5-AA1D-F2E933FBC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4E64-AF3D-DA98-E40B-55364B6D8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26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November 2006 - </a:t>
            </a:r>
            <a:r>
              <a:rPr lang="en-US" dirty="0"/>
              <a:t>PowerShell 1.0 released</a:t>
            </a:r>
          </a:p>
          <a:p>
            <a:r>
              <a:rPr lang="en-US" dirty="0"/>
              <a:t>January 2017 – WMF 5.1 released with PowerShell 5.1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November 2027 – PowerShell 7 ships preinstalled on Windows Server 2028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85DC-5386-A8A8-2F11-C921B15CE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CF0CD-F7AF-7BF5-9E77-81167C5A5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DE471-D499-679A-9154-A3E5E36F8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9F42E-4DCE-2E81-060A-6F1B6F4658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3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E27D8-ABF7-933A-05C0-D2F85C2F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2647E-B7CF-1B5B-C988-1B597A9E5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15692-8885-A533-074C-1C29F70B4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1BBC6-97EA-DC9D-6ED8-9E0CA95AC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00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E689A-E0F9-BC2B-0B43-936A34E17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A6B6E-820B-260B-15A4-DB5B5947B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73442-E428-5226-4AE1-D9BD13D19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177BF-1A8F-BD7B-E5E2-1E67BC868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46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0738D-8159-D973-3C42-549D8854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0E6D3-FAAA-972E-9B75-DB9CB3795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016CA-FBB4-7C01-D6D8-9E5C72C62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9C872-DEC9-C384-482A-ED06404638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15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222A3-BF9C-403F-6D1D-85B9B9B7D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0CD64-6B73-E1D0-94DC-E7A038B05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1D39D-4FEF-3B23-8108-65D1A6AFF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FDDCC-B50B-F84F-E329-710407D94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24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86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31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2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2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7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44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70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51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48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4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34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90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0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powershell/utility-modules/psscriptanalyzer/rules/usecompatiblecommands?view=ps-modules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s://learn.microsoft.com/en-us/powershell/utility-modules/psscriptanalyzer/rules/usecompatiblecmdlets?view=ps-module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powershell/scripting/whats-new/migrating-from-windows-powershell-51-to-powershell-7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s://learn.microsoft.com/powershell/scripting/whats-new/differences-from-windows-powershell" TargetMode="External"/><Relationship Id="rId10" Type="http://schemas.openxmlformats.org/officeDocument/2006/relationships/hyperlink" Target="https://learn.microsoft.com/en-us/powershell/utility-modules/psscriptanalyzer/rules/usecompatibletypes?view=ps-modules" TargetMode="External"/><Relationship Id="rId4" Type="http://schemas.microsoft.com/office/2007/relationships/hdphoto" Target="../media/hdphoto2.wdp"/><Relationship Id="rId9" Type="http://schemas.openxmlformats.org/officeDocument/2006/relationships/hyperlink" Target="https://learn.microsoft.com/en-us/powershell/utility-modules/psscriptanalyzer/rules/usecompatiblesyntax?view=ps-modules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33499" y="2523364"/>
            <a:ext cx="6696636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923" tIns="42962" rIns="85923" bIns="42962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D1C5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Jason Helmick &amp; Sean Wheeler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ED1C5E"/>
                </a:solidFill>
                <a:latin typeface="Arial" charset="0"/>
              </a:rPr>
              <a:t>Microsoft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D1C5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itchFamily="28" charset="0"/>
              <a:ea typeface="+mn-ea"/>
              <a:cs typeface="+mn-cs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338186" y="3620185"/>
            <a:ext cx="33436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1C5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Level: Beginner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93375" y="1200149"/>
            <a:ext cx="7776884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92100"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0379" tIns="44448" rIns="90379" bIns="44448" numCol="1" anchor="ctr" anchorCtr="0" compatLnSpc="1">
            <a:prstTxWarp prst="textNoShape">
              <a:avLst/>
            </a:prstTxWarp>
          </a:bodyPr>
          <a:lstStyle>
            <a:lvl1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2pPr>
            <a:lvl3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3pPr>
            <a:lvl4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4pPr>
            <a:lvl5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5pPr>
            <a:lvl6pPr marL="4572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6pPr>
            <a:lvl7pPr marL="9144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7pPr>
            <a:lvl8pPr marL="13716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8pPr>
            <a:lvl9pPr marL="18288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9pPr>
          </a:lstStyle>
          <a:p>
            <a:pPr lvl="0">
              <a:lnSpc>
                <a:spcPct val="80000"/>
              </a:lnSpc>
              <a:defRPr/>
            </a:pPr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</a:rPr>
              <a:t>PowerShell 7 &amp; beyond!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35A5C9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518872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83D4-F85C-02D3-FF56-67099F97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7DE9-75E5-C504-1744-EAE38725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Your feedback is very important to us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EA96-1130-0451-4C71-8925F6694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6078071" cy="33940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 in the App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DEBAF-2B2D-EA69-A593-F3A248C2E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8353" y="1200150"/>
            <a:ext cx="1918447" cy="192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47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PowerShell 7 &amp; beyond!</a:t>
            </a:r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5" name="agenda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74520"/>
            <a:ext cx="2615184" cy="2651760"/>
          </a:xfrm>
          <a:prstGeom prst="rect">
            <a:avLst/>
          </a:prstGeom>
          <a:solidFill>
            <a:srgbClr val="0E1626"/>
          </a:solidFill>
          <a:ln w="12700">
            <a:solidFill>
              <a:srgbClr val="13203A"/>
            </a:solidFill>
            <a:prstDash val="solid"/>
          </a:ln>
          <a:effectLst>
            <a:outerShdw blurRad="114300" dist="381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874520"/>
            <a:ext cx="2615184" cy="82296"/>
          </a:xfrm>
          <a:prstGeom prst="rect">
            <a:avLst/>
          </a:prstGeom>
          <a:solidFill>
            <a:srgbClr val="FF3B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2130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3B3B"/>
                </a:solidFill>
                <a:effectLst>
                  <a:glow rad="101600">
                    <a:srgbClr val="FF3B3B">
                      <a:alpha val="4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59536" y="30632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350215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PowerShell releases</a:t>
            </a:r>
            <a:endParaRPr lang="en-US" sz="1250" dirty="0"/>
          </a:p>
        </p:txBody>
      </p:sp>
      <p:sp>
        <p:nvSpPr>
          <p:cNvPr id="10" name="agenda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3280" y="1874520"/>
            <a:ext cx="2615184" cy="2651760"/>
          </a:xfrm>
          <a:prstGeom prst="rect">
            <a:avLst/>
          </a:prstGeom>
          <a:solidFill>
            <a:srgbClr val="0E1626"/>
          </a:solidFill>
          <a:ln w="12700">
            <a:solidFill>
              <a:srgbClr val="13203A"/>
            </a:solidFill>
            <a:prstDash val="solid"/>
          </a:ln>
          <a:effectLst>
            <a:outerShdw blurRad="114300" dist="381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3280" y="1874520"/>
            <a:ext cx="2615184" cy="82296"/>
          </a:xfrm>
          <a:prstGeom prst="rect">
            <a:avLst/>
          </a:prstGeom>
          <a:solidFill>
            <a:srgbClr val="27E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84448" y="2130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7E08A"/>
                </a:solidFill>
                <a:effectLst>
                  <a:glow rad="101600">
                    <a:srgbClr val="27E08A">
                      <a:alpha val="4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602736" y="30632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PRESENT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02736" y="350215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 today</a:t>
            </a:r>
            <a:endParaRPr lang="en-US" sz="1250" dirty="0"/>
          </a:p>
        </p:txBody>
      </p:sp>
      <p:sp>
        <p:nvSpPr>
          <p:cNvPr id="15" name="agenda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874520"/>
            <a:ext cx="2615184" cy="2651760"/>
          </a:xfrm>
          <a:prstGeom prst="rect">
            <a:avLst/>
          </a:prstGeom>
          <a:solidFill>
            <a:srgbClr val="0E1626"/>
          </a:solidFill>
          <a:ln w="12700">
            <a:solidFill>
              <a:srgbClr val="13203A"/>
            </a:solidFill>
            <a:prstDash val="solid"/>
          </a:ln>
          <a:effectLst>
            <a:outerShdw blurRad="114300" dist="381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1874520"/>
            <a:ext cx="2615184" cy="82296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27648" y="2130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B020"/>
                </a:solidFill>
                <a:effectLst>
                  <a:glow rad="101600">
                    <a:srgbClr val="FFB020">
                      <a:alpha val="4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345936" y="30632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350215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 next</a:t>
            </a:r>
            <a:endParaRPr lang="en-US" sz="125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F4475712-766F-15B0-6BD0-61DF1EF6A4A3}"/>
              </a:ext>
            </a:extLst>
          </p:cNvPr>
          <p:cNvSpPr/>
          <p:nvPr/>
        </p:nvSpPr>
        <p:spPr>
          <a:xfrm>
            <a:off x="658368" y="2239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◄  OUTATIME  ·  EST. 2006  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4B6E-FFD8-5561-8A9B-4950C3CCD961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15BEA-C4A8-C2B0-A0B8-94E45E841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C789D29-59C4-2E14-A248-7D68E1548687}"/>
              </a:ext>
            </a:extLst>
          </p:cNvPr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9326" y="380327"/>
            <a:ext cx="2184635" cy="2621818"/>
          </a:xfrm>
          <a:prstGeom prst="rect">
            <a:avLst/>
          </a:prstGeom>
          <a:scene3d>
            <a:camera prst="orthographicFront">
              <a:rot lat="3900000" lon="0" rev="0"/>
            </a:camera>
            <a:lightRig rig="threePt" dir="t"/>
          </a:scene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F73FBB-138B-E3B7-4E31-5454CFAD7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0699" y="3905006"/>
            <a:ext cx="1857742" cy="1238494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272436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E354D-D12F-96D8-0464-AE3DADC99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1CA0DCB4-DF2E-C1BF-B419-6DECDF9A426F}"/>
              </a:ext>
            </a:extLst>
          </p:cNvPr>
          <p:cNvSpPr/>
          <p:nvPr/>
        </p:nvSpPr>
        <p:spPr>
          <a:xfrm>
            <a:off x="676656" y="19876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◄  OUTATIME  ·  EST. 2006  ►</a:t>
            </a:r>
            <a:endParaRPr lang="en-US" sz="11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1BAC14C-0348-90B3-7334-6D269F0A7C99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TIMELINE UP TO TODAY</a:t>
            </a:r>
            <a:endParaRPr lang="en-US" sz="3000" dirty="0">
              <a:solidFill>
                <a:schemeClr val="bg1"/>
              </a:solidFill>
            </a:endParaRPr>
          </a:p>
        </p:txBody>
      </p:sp>
      <p:grpSp>
        <p:nvGrpSpPr>
          <p:cNvPr id="218" name="Timeline"/>
          <p:cNvGrpSpPr/>
          <p:nvPr/>
        </p:nvGrpSpPr>
        <p:grpSpPr>
          <a:xfrm>
            <a:off x="658367" y="1435607"/>
            <a:ext cx="7780104" cy="2848865"/>
            <a:chOff x="0" y="356107"/>
            <a:chExt cx="7780104" cy="2848865"/>
          </a:xfrm>
        </p:grpSpPr>
        <p:sp>
          <p:nvSpPr>
            <p:cNvPr id="200" name="Timeline line"/>
            <p:cNvSpPr/>
            <p:nvPr/>
          </p:nvSpPr>
          <p:spPr>
            <a:xfrm>
              <a:off x="0" y="1762734"/>
              <a:ext cx="7748984" cy="35610"/>
            </a:xfrm>
            <a:prstGeom prst="rect">
              <a:avLst/>
            </a:prstGeom>
            <a:gradFill rotWithShape="0">
              <a:gsLst>
                <a:gs pos="0">
                  <a:srgbClr val="FF3B3B"/>
                </a:gs>
                <a:gs pos="2942">
                  <a:srgbClr val="FF3B3B"/>
                </a:gs>
                <a:gs pos="22937">
                  <a:srgbClr val="FFB020"/>
                </a:gs>
                <a:gs pos="42932">
                  <a:srgbClr val="27E08A"/>
                </a:gs>
                <a:gs pos="62927">
                  <a:srgbClr val="22D3FF"/>
                </a:gs>
                <a:gs pos="100000">
                  <a:srgbClr val="22D3FF">
                    <a:alpha val="5500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60000" rotWithShape="0">
                <a:srgbClr val="22D3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Arrow"/>
            <p:cNvSpPr/>
            <p:nvPr/>
          </p:nvSpPr>
          <p:spPr>
            <a:xfrm>
              <a:off x="7566440" y="1638096"/>
              <a:ext cx="213664" cy="284886"/>
            </a:xfrm>
            <a:prstGeom prst="chevron">
              <a:avLst>
                <a:gd name="adj" fmla="val 75000"/>
              </a:avLst>
            </a:prstGeom>
            <a:solidFill>
              <a:srgbClr val="22D3FF"/>
            </a:solidFill>
            <a:ln>
              <a:noFill/>
            </a:ln>
            <a:effectLst>
              <a:outerShdw blurRad="60000" rotWithShape="0">
                <a:srgbClr val="22D3FF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Label"/>
            <p:cNvSpPr/>
            <p:nvPr/>
          </p:nvSpPr>
          <p:spPr>
            <a:xfrm>
              <a:off x="456767" y="811926"/>
              <a:ext cx="2582364" cy="826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spc="200">
                  <a:solidFill>
                    <a:srgbClr val="FF3B3B"/>
                  </a:solidFill>
                  <a:latin typeface="Consolas" pitchFamily="34" charset="0"/>
                  <a:cs typeface="Consolas" pitchFamily="34" charset="0"/>
                </a:rPr>
                <a:t>Nov-2006</a:t>
              </a:r>
            </a:p>
          </p:txBody>
        </p:sp>
        <p:sp>
          <p:nvSpPr>
            <p:cNvPr id="203" name="Label"/>
            <p:cNvSpPr/>
            <p:nvPr/>
          </p:nvSpPr>
          <p:spPr>
            <a:xfrm>
              <a:off x="456767" y="384596"/>
              <a:ext cx="2582364" cy="427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b="1" kern="1200">
                  <a:solidFill>
                    <a:srgbClr val="FF3B3B"/>
                  </a:solidFill>
                  <a:effectLst>
                    <a:outerShdw blurRad="55000" rotWithShape="0">
                      <a:srgbClr val="FF3B3B">
                        <a:alpha val="55000"/>
                      </a:srgbClr>
                    </a:outerShdw>
                  </a:effectLst>
                  <a:latin typeface="Arial Black" pitchFamily="34" charset="0"/>
                  <a:cs typeface="Arial Black" pitchFamily="34" charset="0"/>
                </a:rPr>
                <a:t>v1.0</a:t>
              </a:r>
              <a:r>
                <a:rPr lang="en-US" sz="1500" b="1" kern="1200">
                  <a:solidFill>
                    <a:srgbClr val="E6EDF5"/>
                  </a:solidFill>
                  <a:latin typeface="Calibri" pitchFamily="34" charset="0"/>
                  <a:cs typeface="Calibri" pitchFamily="34" charset="0"/>
                </a:rPr>
                <a:t> – optional on Windows Server 2008</a:t>
              </a:r>
            </a:p>
          </p:txBody>
        </p:sp>
        <p:sp>
          <p:nvSpPr>
            <p:cNvPr id="204" name="Stem"/>
            <p:cNvSpPr/>
            <p:nvPr/>
          </p:nvSpPr>
          <p:spPr>
            <a:xfrm>
              <a:off x="214614" y="356107"/>
              <a:ext cx="28488" cy="1424432"/>
            </a:xfrm>
            <a:prstGeom prst="rect">
              <a:avLst/>
            </a:prstGeom>
            <a:solidFill>
              <a:srgbClr val="FF3B3B">
                <a:alpha val="75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Label"/>
            <p:cNvSpPr/>
            <p:nvPr/>
          </p:nvSpPr>
          <p:spPr>
            <a:xfrm>
              <a:off x="2012409" y="2507000"/>
              <a:ext cx="2582364" cy="669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spc="200" dirty="0">
                  <a:solidFill>
                    <a:srgbClr val="FFB020"/>
                  </a:solidFill>
                  <a:latin typeface="Consolas" pitchFamily="34" charset="0"/>
                  <a:cs typeface="Consolas" pitchFamily="34" charset="0"/>
                </a:rPr>
                <a:t>Jan-2017</a:t>
              </a:r>
            </a:p>
          </p:txBody>
        </p:sp>
        <p:sp>
          <p:nvSpPr>
            <p:cNvPr id="206" name="Label"/>
            <p:cNvSpPr/>
            <p:nvPr/>
          </p:nvSpPr>
          <p:spPr>
            <a:xfrm>
              <a:off x="2012409" y="2065426"/>
              <a:ext cx="2582364" cy="441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b="1" kern="1200">
                  <a:solidFill>
                    <a:srgbClr val="FFB020"/>
                  </a:solidFill>
                  <a:effectLst>
                    <a:outerShdw blurRad="55000" rotWithShape="0">
                      <a:srgbClr val="FFB020">
                        <a:alpha val="55000"/>
                      </a:srgbClr>
                    </a:outerShdw>
                  </a:effectLst>
                  <a:latin typeface="Arial Black" pitchFamily="34" charset="0"/>
                  <a:cs typeface="Arial Black" pitchFamily="34" charset="0"/>
                </a:rPr>
                <a:t>v5.1</a:t>
              </a:r>
              <a:r>
                <a:rPr lang="en-US" sz="1500" b="1" kern="1200">
                  <a:solidFill>
                    <a:srgbClr val="E6EDF5"/>
                  </a:solidFill>
                  <a:latin typeface="Calibri" pitchFamily="34" charset="0"/>
                  <a:cs typeface="Calibri" pitchFamily="34" charset="0"/>
                </a:rPr>
                <a:t> – last version on Windows</a:t>
              </a:r>
            </a:p>
          </p:txBody>
        </p:sp>
        <p:sp>
          <p:nvSpPr>
            <p:cNvPr id="207" name="Stem"/>
            <p:cNvSpPr/>
            <p:nvPr/>
          </p:nvSpPr>
          <p:spPr>
            <a:xfrm>
              <a:off x="1770255" y="1780540"/>
              <a:ext cx="28488" cy="1424432"/>
            </a:xfrm>
            <a:prstGeom prst="rect">
              <a:avLst/>
            </a:prstGeom>
            <a:solidFill>
              <a:srgbClr val="FFB020">
                <a:alpha val="75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Node"/>
            <p:cNvSpPr/>
            <p:nvPr/>
          </p:nvSpPr>
          <p:spPr>
            <a:xfrm>
              <a:off x="154788" y="1706469"/>
              <a:ext cx="148140" cy="148140"/>
            </a:xfrm>
            <a:prstGeom prst="ellipse">
              <a:avLst/>
            </a:prstGeom>
            <a:solidFill>
              <a:srgbClr val="FF3B3B"/>
            </a:solidFill>
            <a:ln w="12700" cap="flat" cmpd="sng" algn="ctr">
              <a:solidFill>
                <a:srgbClr val="E6EDF5"/>
              </a:solidFill>
              <a:prstDash val="solid"/>
              <a:miter lim="800000"/>
            </a:ln>
            <a:effectLst>
              <a:outerShdw blurRad="70000" rotWithShape="0">
                <a:srgbClr val="FF3B3B">
                  <a:alpha val="6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Node"/>
            <p:cNvSpPr/>
            <p:nvPr/>
          </p:nvSpPr>
          <p:spPr>
            <a:xfrm>
              <a:off x="1710429" y="1706469"/>
              <a:ext cx="148140" cy="148140"/>
            </a:xfrm>
            <a:prstGeom prst="ellipse">
              <a:avLst/>
            </a:prstGeom>
            <a:solidFill>
              <a:srgbClr val="FFB020"/>
            </a:solidFill>
            <a:ln w="12700" cap="flat" cmpd="sng" algn="ctr">
              <a:solidFill>
                <a:srgbClr val="E6EDF5"/>
              </a:solidFill>
              <a:prstDash val="solid"/>
              <a:miter lim="800000"/>
            </a:ln>
            <a:effectLst>
              <a:outerShdw blurRad="70000" rotWithShape="0">
                <a:srgbClr val="FFB020">
                  <a:alpha val="6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Label"/>
            <p:cNvSpPr/>
            <p:nvPr/>
          </p:nvSpPr>
          <p:spPr>
            <a:xfrm>
              <a:off x="3568050" y="811926"/>
              <a:ext cx="2582364" cy="826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spc="200">
                  <a:solidFill>
                    <a:srgbClr val="27E08A"/>
                  </a:solidFill>
                  <a:latin typeface="Consolas" pitchFamily="34" charset="0"/>
                  <a:cs typeface="Consolas" pitchFamily="34" charset="0"/>
                </a:rPr>
                <a:t>Jan-2018</a:t>
              </a:r>
            </a:p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50" kern="1200">
                  <a:solidFill>
                    <a:srgbClr val="9FB3C8"/>
                  </a:solidFill>
                  <a:latin typeface="Calibri" pitchFamily="34" charset="0"/>
                  <a:cs typeface="Calibri" pitchFamily="34" charset="0"/>
                </a:rPr>
                <a:t>Installable on Windows</a:t>
              </a:r>
            </a:p>
          </p:txBody>
        </p:sp>
        <p:sp>
          <p:nvSpPr>
            <p:cNvPr id="211" name="Label"/>
            <p:cNvSpPr/>
            <p:nvPr/>
          </p:nvSpPr>
          <p:spPr>
            <a:xfrm>
              <a:off x="3568050" y="384596"/>
              <a:ext cx="2582364" cy="427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b="1" kern="1200" dirty="0">
                  <a:solidFill>
                    <a:srgbClr val="27E08A"/>
                  </a:solidFill>
                  <a:effectLst>
                    <a:outerShdw blurRad="55000" rotWithShape="0">
                      <a:srgbClr val="27E08A">
                        <a:alpha val="55000"/>
                      </a:srgbClr>
                    </a:outerShdw>
                  </a:effectLst>
                  <a:latin typeface="Arial Black" pitchFamily="34" charset="0"/>
                  <a:cs typeface="Arial Black" pitchFamily="34" charset="0"/>
                </a:rPr>
                <a:t>v6.0</a:t>
              </a:r>
              <a:r>
                <a:rPr lang="en-US" sz="1500" b="1" kern="1200" dirty="0">
                  <a:solidFill>
                    <a:srgbClr val="E6EDF5"/>
                  </a:solidFill>
                  <a:latin typeface="Calibri" pitchFamily="34" charset="0"/>
                  <a:cs typeface="Calibri" pitchFamily="34" charset="0"/>
                </a:rPr>
                <a:t> - first cross-plat</a:t>
              </a:r>
            </a:p>
          </p:txBody>
        </p:sp>
        <p:sp>
          <p:nvSpPr>
            <p:cNvPr id="212" name="Stem"/>
            <p:cNvSpPr/>
            <p:nvPr/>
          </p:nvSpPr>
          <p:spPr>
            <a:xfrm>
              <a:off x="3325896" y="356107"/>
              <a:ext cx="28488" cy="1424432"/>
            </a:xfrm>
            <a:prstGeom prst="rect">
              <a:avLst/>
            </a:prstGeom>
            <a:solidFill>
              <a:srgbClr val="27E08A">
                <a:alpha val="75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Label"/>
            <p:cNvSpPr/>
            <p:nvPr/>
          </p:nvSpPr>
          <p:spPr>
            <a:xfrm>
              <a:off x="5123691" y="2507000"/>
              <a:ext cx="2582364" cy="669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spc="200">
                  <a:solidFill>
                    <a:srgbClr val="22D3FF"/>
                  </a:solidFill>
                  <a:latin typeface="Consolas" pitchFamily="34" charset="0"/>
                  <a:cs typeface="Consolas" pitchFamily="34" charset="0"/>
                </a:rPr>
                <a:t>Mar-2026</a:t>
              </a:r>
            </a:p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50" kern="1200">
                  <a:solidFill>
                    <a:srgbClr val="9FB3C8"/>
                  </a:solidFill>
                  <a:latin typeface="Calibri" pitchFamily="34" charset="0"/>
                  <a:cs typeface="Calibri" pitchFamily="34" charset="0"/>
                </a:rPr>
                <a:t>Installable on Windows</a:t>
              </a:r>
            </a:p>
          </p:txBody>
        </p:sp>
        <p:sp>
          <p:nvSpPr>
            <p:cNvPr id="214" name="Label"/>
            <p:cNvSpPr/>
            <p:nvPr/>
          </p:nvSpPr>
          <p:spPr>
            <a:xfrm>
              <a:off x="5123691" y="2065426"/>
              <a:ext cx="2582364" cy="441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b="1" kern="1200">
                  <a:solidFill>
                    <a:srgbClr val="22D3FF"/>
                  </a:solidFill>
                  <a:effectLst>
                    <a:outerShdw blurRad="55000" rotWithShape="0">
                      <a:srgbClr val="22D3FF">
                        <a:alpha val="55000"/>
                      </a:srgbClr>
                    </a:outerShdw>
                  </a:effectLst>
                  <a:latin typeface="Arial Black" pitchFamily="34" charset="0"/>
                  <a:cs typeface="Arial Black" pitchFamily="34" charset="0"/>
                </a:rPr>
                <a:t>v7.6</a:t>
              </a:r>
              <a:r>
                <a:rPr lang="en-US" sz="1500" b="1" kern="1200">
                  <a:solidFill>
                    <a:srgbClr val="E6EDF5"/>
                  </a:solidFill>
                  <a:latin typeface="Calibri" pitchFamily="34" charset="0"/>
                  <a:cs typeface="Calibri" pitchFamily="34" charset="0"/>
                </a:rPr>
                <a:t> – latest LTS</a:t>
              </a:r>
            </a:p>
          </p:txBody>
        </p:sp>
        <p:sp>
          <p:nvSpPr>
            <p:cNvPr id="215" name="Stem"/>
            <p:cNvSpPr/>
            <p:nvPr/>
          </p:nvSpPr>
          <p:spPr>
            <a:xfrm>
              <a:off x="4881537" y="1780540"/>
              <a:ext cx="28488" cy="1424432"/>
            </a:xfrm>
            <a:prstGeom prst="rect">
              <a:avLst/>
            </a:prstGeom>
            <a:solidFill>
              <a:srgbClr val="22D3FF">
                <a:alpha val="75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Node"/>
            <p:cNvSpPr/>
            <p:nvPr/>
          </p:nvSpPr>
          <p:spPr>
            <a:xfrm>
              <a:off x="3266070" y="1706469"/>
              <a:ext cx="148140" cy="148140"/>
            </a:xfrm>
            <a:prstGeom prst="ellipse">
              <a:avLst/>
            </a:prstGeom>
            <a:solidFill>
              <a:srgbClr val="27E08A"/>
            </a:solidFill>
            <a:ln w="12700" cap="flat" cmpd="sng" algn="ctr">
              <a:solidFill>
                <a:srgbClr val="E6EDF5"/>
              </a:solidFill>
              <a:prstDash val="solid"/>
              <a:miter lim="800000"/>
            </a:ln>
            <a:effectLst>
              <a:outerShdw blurRad="70000" rotWithShape="0">
                <a:srgbClr val="27E08A">
                  <a:alpha val="6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Node"/>
            <p:cNvSpPr/>
            <p:nvPr/>
          </p:nvSpPr>
          <p:spPr>
            <a:xfrm>
              <a:off x="4821711" y="1706469"/>
              <a:ext cx="148140" cy="148140"/>
            </a:xfrm>
            <a:prstGeom prst="ellipse">
              <a:avLst/>
            </a:prstGeom>
            <a:solidFill>
              <a:srgbClr val="22D3FF"/>
            </a:solidFill>
            <a:ln w="12700" cap="flat" cmpd="sng" algn="ctr">
              <a:solidFill>
                <a:srgbClr val="E6EDF5"/>
              </a:solidFill>
              <a:prstDash val="solid"/>
              <a:miter lim="800000"/>
            </a:ln>
            <a:effectLst>
              <a:outerShdw blurRad="70000" rotWithShape="0">
                <a:srgbClr val="22D3FF">
                  <a:alpha val="6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A7AB32B4-9D31-37D4-720B-E2A03C37993F}"/>
              </a:ext>
            </a:extLst>
          </p:cNvPr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2560" y="198763"/>
            <a:ext cx="1431273" cy="143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1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05070D">
              <a:alpha val="78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bottom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05070D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  <a:effectLst>
            <a:outerShdw blurRad="114300" dist="38100" dir="5400000" algn="bl" rotWithShape="0">
              <a:srgbClr val="000000">
                <a:alpha val="55000"/>
              </a:srgbClr>
            </a:outerShdw>
          </a:effectLst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future of PowerShell on Windows</a:t>
            </a:r>
            <a:endParaRPr lang="en-US" sz="4600" dirty="0"/>
          </a:p>
        </p:txBody>
      </p:sp>
      <p:sp>
        <p:nvSpPr>
          <p:cNvPr id="6" name="subtitle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07792"/>
            <a:ext cx="7589520" cy="457200"/>
          </a:xfrm>
          <a:prstGeom prst="rect">
            <a:avLst/>
          </a:prstGeom>
          <a:solidFill>
            <a:srgbClr val="05070D">
              <a:alpha val="78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going, you won’t need to install PowerShell!</a:t>
            </a:r>
            <a:endParaRPr lang="en-US" sz="1600" dirty="0"/>
          </a:p>
        </p:txBody>
      </p:sp>
      <p:sp>
        <p:nvSpPr>
          <p:cNvPr id="8" name="time circui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77640"/>
            <a:ext cx="2615184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1320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9808" y="428853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3B3B"/>
                </a:solidFill>
                <a:effectLst>
                  <a:glow rad="101600">
                    <a:srgbClr val="FF3B3B">
                      <a:alpha val="55000"/>
                    </a:srgbClr>
                  </a:glow>
                </a:effectLst>
                <a:latin typeface="Consolas" pitchFamily="34" charset="0"/>
              </a:rPr>
              <a:t>JAN 2017</a:t>
            </a:r>
            <a:endParaRPr lang="en-US" sz="2000" dirty="0"/>
          </a:p>
        </p:txBody>
      </p:sp>
      <p:sp>
        <p:nvSpPr>
          <p:cNvPr id="11" name="time circui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3280" y="3977640"/>
            <a:ext cx="2615184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13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93008" y="406908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TIME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93008" y="428853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E08A"/>
                </a:solidFill>
                <a:effectLst>
                  <a:glow rad="101600">
                    <a:srgbClr val="27E08A">
                      <a:alpha val="5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AUG 2026</a:t>
            </a:r>
            <a:endParaRPr lang="en-US" sz="2000" dirty="0"/>
          </a:p>
        </p:txBody>
      </p:sp>
      <p:sp>
        <p:nvSpPr>
          <p:cNvPr id="14" name="time circui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3977640"/>
            <a:ext cx="2615184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13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9536" y="406908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TIME DEPARTED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36208" y="428853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020"/>
                </a:solidFill>
                <a:effectLst>
                  <a:glow rad="101600">
                    <a:srgbClr val="FFB020">
                      <a:alpha val="5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 NOV 2027</a:t>
            </a:r>
            <a:endParaRPr lang="en-US" sz="20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368441C8-1D3F-4196-E82E-72AE7C43ECF0}"/>
              </a:ext>
            </a:extLst>
          </p:cNvPr>
          <p:cNvSpPr/>
          <p:nvPr/>
        </p:nvSpPr>
        <p:spPr>
          <a:xfrm>
            <a:off x="6236208" y="403250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 TIME</a:t>
            </a:r>
            <a:endParaRPr lang="en-US" sz="8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3C01E41F-CF88-B129-14F8-C51F32460910}"/>
              </a:ext>
            </a:extLst>
          </p:cNvPr>
          <p:cNvSpPr/>
          <p:nvPr/>
        </p:nvSpPr>
        <p:spPr>
          <a:xfrm>
            <a:off x="6583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ACCELERATE TO 88 MPH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60F19-546C-4E67-5CEF-FDBE41BE1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2C489B-60F4-23A2-7974-7E01087CFC2D}"/>
              </a:ext>
            </a:extLst>
          </p:cNvPr>
          <p:cNvSpPr/>
          <p:nvPr/>
        </p:nvSpPr>
        <p:spPr>
          <a:xfrm>
            <a:off x="6583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ACCELERATE TO 88 MPH</a:t>
            </a:r>
            <a:endParaRPr lang="en-US" sz="11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9B7F05C-7E63-3E81-A6BC-0C8A9E912E9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 TO THE FUTURE</a:t>
            </a:r>
          </a:p>
        </p:txBody>
      </p:sp>
      <p:grpSp>
        <p:nvGrpSpPr>
          <p:cNvPr id="217" name="Timeline"/>
          <p:cNvGrpSpPr/>
          <p:nvPr/>
        </p:nvGrpSpPr>
        <p:grpSpPr>
          <a:xfrm>
            <a:off x="658367" y="1435607"/>
            <a:ext cx="7780104" cy="2883507"/>
            <a:chOff x="0" y="356107"/>
            <a:chExt cx="7780104" cy="2883507"/>
          </a:xfrm>
        </p:grpSpPr>
        <p:sp>
          <p:nvSpPr>
            <p:cNvPr id="200" name="Timeline line"/>
            <p:cNvSpPr/>
            <p:nvPr/>
          </p:nvSpPr>
          <p:spPr>
            <a:xfrm>
              <a:off x="0" y="1762734"/>
              <a:ext cx="7748984" cy="35610"/>
            </a:xfrm>
            <a:prstGeom prst="rect">
              <a:avLst/>
            </a:prstGeom>
            <a:gradFill rotWithShape="0">
              <a:gsLst>
                <a:gs pos="0">
                  <a:srgbClr val="FF3B3B"/>
                </a:gs>
                <a:gs pos="2942">
                  <a:srgbClr val="FF3B3B"/>
                </a:gs>
                <a:gs pos="16793">
                  <a:srgbClr val="FFB020"/>
                </a:gs>
                <a:gs pos="42932">
                  <a:srgbClr val="27E08A"/>
                </a:gs>
                <a:gs pos="62927">
                  <a:srgbClr val="22D3FF"/>
                </a:gs>
                <a:gs pos="100000">
                  <a:srgbClr val="22D3FF">
                    <a:alpha val="55000"/>
                  </a:srgbClr>
                </a:gs>
              </a:gsLst>
              <a:lin ang="0" scaled="0"/>
            </a:gradFill>
            <a:ln>
              <a:noFill/>
            </a:ln>
            <a:effectLst>
              <a:outerShdw blurRad="60000" rotWithShape="0">
                <a:srgbClr val="22D3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Arrow"/>
            <p:cNvSpPr/>
            <p:nvPr/>
          </p:nvSpPr>
          <p:spPr>
            <a:xfrm>
              <a:off x="7566440" y="1638096"/>
              <a:ext cx="213664" cy="284886"/>
            </a:xfrm>
            <a:prstGeom prst="chevron">
              <a:avLst>
                <a:gd name="adj" fmla="val 75000"/>
              </a:avLst>
            </a:prstGeom>
            <a:solidFill>
              <a:srgbClr val="22D3FF"/>
            </a:solidFill>
            <a:ln>
              <a:noFill/>
            </a:ln>
            <a:effectLst>
              <a:outerShdw blurRad="60000" rotWithShape="0">
                <a:srgbClr val="22D3FF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Label"/>
            <p:cNvSpPr/>
            <p:nvPr/>
          </p:nvSpPr>
          <p:spPr>
            <a:xfrm>
              <a:off x="456767" y="811926"/>
              <a:ext cx="2582364" cy="826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50" kern="1200">
                  <a:solidFill>
                    <a:srgbClr val="9FB3C8"/>
                  </a:solidFill>
                  <a:latin typeface="Calibri" pitchFamily="34" charset="0"/>
                  <a:cs typeface="Calibri" pitchFamily="34" charset="0"/>
                </a:rPr>
                <a:t>v5.1 becomes optional component (installed)</a:t>
              </a:r>
            </a:p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spc="200">
                  <a:solidFill>
                    <a:srgbClr val="FF3B3B"/>
                  </a:solidFill>
                  <a:latin typeface="Consolas" pitchFamily="34" charset="0"/>
                  <a:cs typeface="Consolas" pitchFamily="34" charset="0"/>
                </a:rPr>
                <a:t>Nov-2027</a:t>
              </a:r>
            </a:p>
          </p:txBody>
        </p:sp>
        <p:sp>
          <p:nvSpPr>
            <p:cNvPr id="203" name="Label"/>
            <p:cNvSpPr/>
            <p:nvPr/>
          </p:nvSpPr>
          <p:spPr>
            <a:xfrm>
              <a:off x="456767" y="384596"/>
              <a:ext cx="2582364" cy="427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b="1" kern="1200">
                  <a:solidFill>
                    <a:srgbClr val="FF3B3B"/>
                  </a:solidFill>
                  <a:effectLst>
                    <a:outerShdw blurRad="55000" rotWithShape="0">
                      <a:srgbClr val="FF3B3B">
                        <a:alpha val="55000"/>
                      </a:srgbClr>
                    </a:outerShdw>
                  </a:effectLst>
                  <a:latin typeface="Arial Black" pitchFamily="34" charset="0"/>
                  <a:cs typeface="Arial Black" pitchFamily="34" charset="0"/>
                </a:rPr>
                <a:t>v7</a:t>
              </a:r>
              <a:r>
                <a:rPr lang="en-US" sz="1500" b="1" kern="1200">
                  <a:solidFill>
                    <a:srgbClr val="E6EDF5"/>
                  </a:solidFill>
                  <a:latin typeface="Calibri" pitchFamily="34" charset="0"/>
                  <a:cs typeface="Calibri" pitchFamily="34" charset="0"/>
                </a:rPr>
                <a:t> on Windows Server 2028</a:t>
              </a:r>
            </a:p>
          </p:txBody>
        </p:sp>
        <p:sp>
          <p:nvSpPr>
            <p:cNvPr id="204" name="Stem"/>
            <p:cNvSpPr/>
            <p:nvPr/>
          </p:nvSpPr>
          <p:spPr>
            <a:xfrm>
              <a:off x="214614" y="356107"/>
              <a:ext cx="28488" cy="1424432"/>
            </a:xfrm>
            <a:prstGeom prst="rect">
              <a:avLst/>
            </a:prstGeom>
            <a:solidFill>
              <a:srgbClr val="FF3B3B">
                <a:alpha val="75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Label"/>
            <p:cNvSpPr/>
            <p:nvPr/>
          </p:nvSpPr>
          <p:spPr>
            <a:xfrm>
              <a:off x="1512902" y="2446526"/>
              <a:ext cx="2582364" cy="669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50" kern="1200">
                  <a:solidFill>
                    <a:srgbClr val="9FB3C8"/>
                  </a:solidFill>
                  <a:latin typeface="Calibri" pitchFamily="34" charset="0"/>
                  <a:cs typeface="Calibri" pitchFamily="34" charset="0"/>
                </a:rPr>
                <a:t>Tied to client release</a:t>
              </a:r>
            </a:p>
          </p:txBody>
        </p:sp>
        <p:sp>
          <p:nvSpPr>
            <p:cNvPr id="206" name="Label"/>
            <p:cNvSpPr/>
            <p:nvPr/>
          </p:nvSpPr>
          <p:spPr>
            <a:xfrm>
              <a:off x="1512902" y="2004952"/>
              <a:ext cx="2582364" cy="441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b="1" kern="1200">
                  <a:solidFill>
                    <a:srgbClr val="FFB020"/>
                  </a:solidFill>
                  <a:effectLst>
                    <a:outerShdw blurRad="55000" rotWithShape="0">
                      <a:srgbClr val="FFB020">
                        <a:alpha val="55000"/>
                      </a:srgbClr>
                    </a:outerShdw>
                  </a:effectLst>
                  <a:latin typeface="Arial Black" pitchFamily="34" charset="0"/>
                  <a:cs typeface="Arial Black" pitchFamily="34" charset="0"/>
                </a:rPr>
                <a:t>v7</a:t>
              </a:r>
              <a:r>
                <a:rPr lang="en-US" sz="1500" b="1" kern="1200">
                  <a:solidFill>
                    <a:srgbClr val="E6EDF5"/>
                  </a:solidFill>
                  <a:latin typeface="Calibri" pitchFamily="34" charset="0"/>
                  <a:cs typeface="Calibri" pitchFamily="34" charset="0"/>
                </a:rPr>
                <a:t> on Windows client</a:t>
              </a:r>
            </a:p>
          </p:txBody>
        </p:sp>
        <p:sp>
          <p:nvSpPr>
            <p:cNvPr id="207" name="Stem"/>
            <p:cNvSpPr/>
            <p:nvPr/>
          </p:nvSpPr>
          <p:spPr>
            <a:xfrm>
              <a:off x="1292273" y="1815182"/>
              <a:ext cx="28488" cy="1424432"/>
            </a:xfrm>
            <a:prstGeom prst="rect">
              <a:avLst/>
            </a:prstGeom>
            <a:solidFill>
              <a:srgbClr val="FFB020">
                <a:alpha val="75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Node"/>
            <p:cNvSpPr/>
            <p:nvPr/>
          </p:nvSpPr>
          <p:spPr>
            <a:xfrm>
              <a:off x="154788" y="1706469"/>
              <a:ext cx="148140" cy="148140"/>
            </a:xfrm>
            <a:prstGeom prst="ellipse">
              <a:avLst/>
            </a:prstGeom>
            <a:solidFill>
              <a:srgbClr val="FF3B3B"/>
            </a:solidFill>
            <a:ln w="12700" cap="flat" cmpd="sng" algn="ctr">
              <a:solidFill>
                <a:srgbClr val="E6EDF5"/>
              </a:solidFill>
              <a:prstDash val="solid"/>
              <a:miter lim="800000"/>
            </a:ln>
            <a:effectLst>
              <a:outerShdw blurRad="70000" rotWithShape="0">
                <a:srgbClr val="FF3B3B">
                  <a:alpha val="6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Node"/>
            <p:cNvSpPr/>
            <p:nvPr/>
          </p:nvSpPr>
          <p:spPr>
            <a:xfrm>
              <a:off x="1232447" y="1741111"/>
              <a:ext cx="148140" cy="148140"/>
            </a:xfrm>
            <a:prstGeom prst="ellipse">
              <a:avLst/>
            </a:prstGeom>
            <a:solidFill>
              <a:srgbClr val="FFB020"/>
            </a:solidFill>
            <a:ln w="12700" cap="flat" cmpd="sng" algn="ctr">
              <a:solidFill>
                <a:srgbClr val="E6EDF5"/>
              </a:solidFill>
              <a:prstDash val="solid"/>
              <a:miter lim="800000"/>
            </a:ln>
            <a:effectLst>
              <a:outerShdw blurRad="70000" rotWithShape="0">
                <a:srgbClr val="FFB020">
                  <a:alpha val="6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Label"/>
            <p:cNvSpPr/>
            <p:nvPr/>
          </p:nvSpPr>
          <p:spPr>
            <a:xfrm>
              <a:off x="3732624" y="389651"/>
              <a:ext cx="2582364" cy="427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b="1" kern="1200">
                  <a:solidFill>
                    <a:srgbClr val="27E08A"/>
                  </a:solidFill>
                  <a:effectLst>
                    <a:outerShdw blurRad="55000" rotWithShape="0">
                      <a:srgbClr val="27E08A">
                        <a:alpha val="55000"/>
                      </a:srgbClr>
                    </a:outerShdw>
                  </a:effectLst>
                  <a:latin typeface="Arial Black" pitchFamily="34" charset="0"/>
                  <a:cs typeface="Arial Black" pitchFamily="34" charset="0"/>
                </a:rPr>
                <a:t>v5.1</a:t>
              </a:r>
              <a:r>
                <a:rPr lang="en-US" sz="1500" b="1" kern="1200">
                  <a:solidFill>
                    <a:srgbClr val="E6EDF5"/>
                  </a:solidFill>
                  <a:latin typeface="Calibri" pitchFamily="34" charset="0"/>
                  <a:cs typeface="Calibri" pitchFamily="34" charset="0"/>
                </a:rPr>
                <a:t> not installed by default</a:t>
              </a:r>
            </a:p>
          </p:txBody>
        </p:sp>
        <p:sp>
          <p:nvSpPr>
            <p:cNvPr id="211" name="Stem"/>
            <p:cNvSpPr/>
            <p:nvPr/>
          </p:nvSpPr>
          <p:spPr>
            <a:xfrm>
              <a:off x="3325896" y="356107"/>
              <a:ext cx="28488" cy="1424432"/>
            </a:xfrm>
            <a:prstGeom prst="rect">
              <a:avLst/>
            </a:prstGeom>
            <a:solidFill>
              <a:srgbClr val="27E08A">
                <a:alpha val="75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Label"/>
            <p:cNvSpPr/>
            <p:nvPr/>
          </p:nvSpPr>
          <p:spPr>
            <a:xfrm>
              <a:off x="5123691" y="2507000"/>
              <a:ext cx="2582364" cy="669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150" kern="1200">
                  <a:solidFill>
                    <a:srgbClr val="9FB3C8"/>
                  </a:solidFill>
                  <a:latin typeface="Calibri" pitchFamily="34" charset="0"/>
                  <a:cs typeface="Calibri" pitchFamily="34" charset="0"/>
                </a:rPr>
                <a:t>At least 3-years away</a:t>
              </a:r>
            </a:p>
          </p:txBody>
        </p:sp>
        <p:sp>
          <p:nvSpPr>
            <p:cNvPr id="213" name="Label"/>
            <p:cNvSpPr/>
            <p:nvPr/>
          </p:nvSpPr>
          <p:spPr>
            <a:xfrm>
              <a:off x="5123691" y="2065426"/>
              <a:ext cx="2582364" cy="4415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b="1" kern="1200">
                  <a:solidFill>
                    <a:srgbClr val="22D3FF"/>
                  </a:solidFill>
                  <a:effectLst>
                    <a:outerShdw blurRad="55000" rotWithShape="0">
                      <a:srgbClr val="22D3FF">
                        <a:alpha val="55000"/>
                      </a:srgbClr>
                    </a:outerShdw>
                  </a:effectLst>
                  <a:latin typeface="Arial Black" pitchFamily="34" charset="0"/>
                  <a:cs typeface="Arial Black" pitchFamily="34" charset="0"/>
                </a:rPr>
                <a:t>v5.1</a:t>
              </a:r>
              <a:r>
                <a:rPr lang="en-US" sz="1500" b="1" kern="1200">
                  <a:solidFill>
                    <a:srgbClr val="E6EDF5"/>
                  </a:solidFill>
                  <a:latin typeface="Calibri" pitchFamily="34" charset="0"/>
                  <a:cs typeface="Calibri" pitchFamily="34" charset="0"/>
                </a:rPr>
                <a:t> removed from Windows</a:t>
              </a:r>
            </a:p>
          </p:txBody>
        </p:sp>
        <p:sp>
          <p:nvSpPr>
            <p:cNvPr id="214" name="Stem"/>
            <p:cNvSpPr/>
            <p:nvPr/>
          </p:nvSpPr>
          <p:spPr>
            <a:xfrm>
              <a:off x="4881537" y="1780540"/>
              <a:ext cx="28488" cy="1424432"/>
            </a:xfrm>
            <a:prstGeom prst="rect">
              <a:avLst/>
            </a:prstGeom>
            <a:solidFill>
              <a:srgbClr val="22D3FF">
                <a:alpha val="75000"/>
              </a:srgb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Node"/>
            <p:cNvSpPr/>
            <p:nvPr/>
          </p:nvSpPr>
          <p:spPr>
            <a:xfrm>
              <a:off x="3266070" y="1706469"/>
              <a:ext cx="148140" cy="148140"/>
            </a:xfrm>
            <a:prstGeom prst="ellipse">
              <a:avLst/>
            </a:prstGeom>
            <a:solidFill>
              <a:srgbClr val="27E08A"/>
            </a:solidFill>
            <a:ln w="12700" cap="flat" cmpd="sng" algn="ctr">
              <a:solidFill>
                <a:srgbClr val="E6EDF5"/>
              </a:solidFill>
              <a:prstDash val="solid"/>
              <a:miter lim="800000"/>
            </a:ln>
            <a:effectLst>
              <a:outerShdw blurRad="70000" rotWithShape="0">
                <a:srgbClr val="27E08A">
                  <a:alpha val="6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Node"/>
            <p:cNvSpPr/>
            <p:nvPr/>
          </p:nvSpPr>
          <p:spPr>
            <a:xfrm>
              <a:off x="4821711" y="1706469"/>
              <a:ext cx="148140" cy="148140"/>
            </a:xfrm>
            <a:prstGeom prst="ellipse">
              <a:avLst/>
            </a:prstGeom>
            <a:solidFill>
              <a:srgbClr val="22D3FF"/>
            </a:solidFill>
            <a:ln w="12700" cap="flat" cmpd="sng" algn="ctr">
              <a:solidFill>
                <a:srgbClr val="E6EDF5"/>
              </a:solidFill>
              <a:prstDash val="solid"/>
              <a:miter lim="800000"/>
            </a:ln>
            <a:effectLst>
              <a:outerShdw blurRad="70000" rotWithShape="0">
                <a:srgbClr val="22D3FF">
                  <a:alpha val="6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F610A63-A414-E1E0-4597-7FA77AA99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20466" y="388243"/>
            <a:ext cx="2261086" cy="1130543"/>
          </a:xfrm>
          <a:prstGeom prst="rect">
            <a:avLst/>
          </a:prstGeom>
          <a:effectLst>
            <a:softEdge rad="203200"/>
          </a:effectLst>
          <a:scene3d>
            <a:camera prst="orthographicFront">
              <a:rot lat="0" lon="1080000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160878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95346-8BD9-A041-20FF-2BB283AA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7B6E85-C879-C5F7-94E6-1E02B46FA87B}"/>
              </a:ext>
            </a:extLst>
          </p:cNvPr>
          <p:cNvSpPr/>
          <p:nvPr/>
        </p:nvSpPr>
        <p:spPr>
          <a:xfrm>
            <a:off x="6583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 CAPACITOR</a:t>
            </a:r>
            <a:endParaRPr lang="en-US" sz="11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83AEC3D-12DB-97A2-891B-5024009D7BB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how WE get to 88 mph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1AC82A-1947-4FC7-9708-06507E1C5609}"/>
              </a:ext>
            </a:extLst>
          </p:cNvPr>
          <p:cNvSpPr/>
          <p:nvPr/>
        </p:nvSpPr>
        <p:spPr>
          <a:xfrm>
            <a:off x="658368" y="16916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MSIX is the future for Microsoft</a:t>
            </a:r>
          </a:p>
          <a:p>
            <a:pPr marL="800100" lvl="1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- parity with MSI </a:t>
            </a:r>
          </a:p>
          <a:p>
            <a:pPr marL="800100" lvl="1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teams working on the promise (Windows, SCCM, Intune, and more)</a:t>
            </a:r>
          </a:p>
          <a:p>
            <a:pPr marL="800100" lvl="1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Serviced via the Store</a:t>
            </a:r>
          </a:p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</a:t>
            </a:r>
            <a:r>
              <a:rPr lang="en-US" sz="165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</a:t>
            </a: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</a:p>
          <a:p>
            <a:pPr marL="342900" indent="-342900">
              <a:spcAft>
                <a:spcPts val="1800"/>
              </a:spcAft>
              <a:buSzPct val="100000"/>
              <a:buChar char="►"/>
            </a:pPr>
            <a:endParaRPr lang="en-US" sz="1650" dirty="0">
              <a:solidFill>
                <a:srgbClr val="E6ED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glow ring">
            <a:extLst>
              <a:ext uri="{FF2B5EF4-FFF2-40B4-BE49-F238E27FC236}">
                <a16:creationId xmlns:a16="http://schemas.microsoft.com/office/drawing/2014/main" id="{827DBAE8-45CA-3956-7BE1-58110294F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2011680"/>
            <a:ext cx="1600200" cy="1600200"/>
          </a:xfrm>
          <a:prstGeom prst="ellipse">
            <a:avLst/>
          </a:prstGeom>
          <a:solidFill>
            <a:srgbClr val="3B82F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F5ED6B-35A1-56B3-709F-64110A35FC7C}"/>
              </a:ext>
            </a:extLst>
          </p:cNvPr>
          <p:cNvSpPr/>
          <p:nvPr/>
        </p:nvSpPr>
        <p:spPr>
          <a:xfrm>
            <a:off x="612648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BE3004-EB6E-B6D5-71E4-57FE9425F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917" y="1378673"/>
            <a:ext cx="2148840" cy="30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61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004B-1C97-8864-9603-DD3E29C29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71391B-5833-A667-CED0-4423DBBB2B38}"/>
              </a:ext>
            </a:extLst>
          </p:cNvPr>
          <p:cNvSpPr/>
          <p:nvPr/>
        </p:nvSpPr>
        <p:spPr>
          <a:xfrm>
            <a:off x="6583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 CAPACITOR</a:t>
            </a:r>
            <a:endParaRPr lang="en-US" sz="11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92B6552-0F47-3738-7257-7E2C6C938E5D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how YOU get to 88 mph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7BC611-00A7-DE93-8D26-5CADA71555D7}"/>
              </a:ext>
            </a:extLst>
          </p:cNvPr>
          <p:cNvSpPr/>
          <p:nvPr/>
        </p:nvSpPr>
        <p:spPr>
          <a:xfrm>
            <a:off x="658368" y="16916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28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Tools</a:t>
            </a:r>
          </a:p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28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migration</a:t>
            </a:r>
          </a:p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28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</a:p>
          <a:p>
            <a:pPr>
              <a:spcAft>
                <a:spcPts val="1800"/>
              </a:spcAft>
              <a:buSzPct val="100000"/>
            </a:pPr>
            <a:endParaRPr lang="en-US" sz="1650" dirty="0">
              <a:solidFill>
                <a:srgbClr val="E6ED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spcAft>
                <a:spcPts val="1800"/>
              </a:spcAft>
              <a:buSzPct val="100000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 – WMI to CIM</a:t>
            </a:r>
          </a:p>
        </p:txBody>
      </p:sp>
      <p:sp>
        <p:nvSpPr>
          <p:cNvPr id="6" name="glow ring">
            <a:extLst>
              <a:ext uri="{FF2B5EF4-FFF2-40B4-BE49-F238E27FC236}">
                <a16:creationId xmlns:a16="http://schemas.microsoft.com/office/drawing/2014/main" id="{61E2C9E4-B587-C2BF-7AFE-E7444265C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2011680"/>
            <a:ext cx="1600200" cy="1600200"/>
          </a:xfrm>
          <a:prstGeom prst="ellipse">
            <a:avLst/>
          </a:prstGeom>
          <a:solidFill>
            <a:srgbClr val="3B82F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357DE4E-8D62-0EF4-73A8-C7AE9EE225A6}"/>
              </a:ext>
            </a:extLst>
          </p:cNvPr>
          <p:cNvSpPr/>
          <p:nvPr/>
        </p:nvSpPr>
        <p:spPr>
          <a:xfrm>
            <a:off x="612648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E30F42-5E9A-BB39-5639-5C8F2C9AD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917" y="1378673"/>
            <a:ext cx="2148840" cy="30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36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D3A3-150F-6EFB-1EB5-F5B712B0F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8B0BE-CD1A-7A65-AD06-A7502D65677E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85992B-E41D-DFF3-1EFD-AF4F5A61B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B8DBFCF5-85F3-AB5C-5293-6D8E58D3F1D6}"/>
              </a:ext>
            </a:extLst>
          </p:cNvPr>
          <p:cNvSpPr/>
          <p:nvPr/>
        </p:nvSpPr>
        <p:spPr>
          <a:xfrm>
            <a:off x="6583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MR. FUSION 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EB142C-735B-5C30-C241-28146ED54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708" y="914400"/>
            <a:ext cx="2890434" cy="2890434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FDECCE93-96B1-484F-C0AE-56B3F13D9DAE}"/>
              </a:ext>
            </a:extLst>
          </p:cNvPr>
          <p:cNvSpPr txBox="1">
            <a:spLocks/>
          </p:cNvSpPr>
          <p:nvPr/>
        </p:nvSpPr>
        <p:spPr>
          <a:xfrm>
            <a:off x="658368" y="65667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else are we going?</a:t>
            </a:r>
            <a:endParaRPr lang="en-US" sz="30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DD4D1ACE-E266-45A9-1C04-7BA03C59E6A1}"/>
              </a:ext>
            </a:extLst>
          </p:cNvPr>
          <p:cNvSpPr/>
          <p:nvPr/>
        </p:nvSpPr>
        <p:spPr>
          <a:xfrm>
            <a:off x="658368" y="16916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►"/>
            </a:pPr>
            <a:r>
              <a:rPr lang="en-US" sz="20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 &amp; PSScriptAnalyzer</a:t>
            </a:r>
          </a:p>
          <a:p>
            <a:pPr marL="800100" lvl="1" indent="-342900">
              <a:buSzPct val="100000"/>
              <a:buChar char="►"/>
            </a:pPr>
            <a:r>
              <a:rPr lang="en-US" sz="20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ISE-mode</a:t>
            </a:r>
          </a:p>
          <a:p>
            <a:pPr marL="342900" indent="-342900">
              <a:buSzPct val="100000"/>
              <a:buChar char="►"/>
            </a:pPr>
            <a:r>
              <a:rPr lang="en-US" sz="20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PSResourceGet &amp; PowerShell Gallery</a:t>
            </a:r>
          </a:p>
          <a:p>
            <a:pPr marL="800100" lvl="1" indent="-342900">
              <a:buSzPct val="100000"/>
              <a:buChar char="►"/>
            </a:pPr>
            <a:r>
              <a:rPr lang="en-US" sz="20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support</a:t>
            </a:r>
          </a:p>
          <a:p>
            <a:pPr marL="800100" lvl="1" indent="-342900">
              <a:buSzPct val="100000"/>
              <a:buChar char="►"/>
            </a:pPr>
            <a:r>
              <a:rPr lang="en-US" sz="20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</a:p>
          <a:p>
            <a:pPr marL="342900" indent="-342900">
              <a:buSzPct val="100000"/>
              <a:buChar char="►"/>
            </a:pPr>
            <a:r>
              <a:rPr lang="en-US" sz="20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PlatyPS</a:t>
            </a:r>
          </a:p>
          <a:p>
            <a:pPr marL="342900" indent="-342900">
              <a:buSzPct val="100000"/>
              <a:buChar char="►"/>
            </a:pPr>
            <a:r>
              <a:rPr lang="en-US" sz="20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v3</a:t>
            </a:r>
          </a:p>
          <a:p>
            <a:pPr marL="342900" indent="-342900">
              <a:buSzPct val="100000"/>
              <a:buChar char="►"/>
            </a:pPr>
            <a:r>
              <a:rPr lang="en-US" sz="20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</a:t>
            </a:r>
          </a:p>
        </p:txBody>
      </p:sp>
    </p:spTree>
    <p:extLst>
      <p:ext uri="{BB962C8B-B14F-4D97-AF65-F5344CB8AC3E}">
        <p14:creationId xmlns:p14="http://schemas.microsoft.com/office/powerpoint/2010/main" val="4081160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2B127-09A3-C9F6-79B9-ED049F43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5B6835-6891-3D55-EBF1-C4B023190919}"/>
              </a:ext>
            </a:extLst>
          </p:cNvPr>
          <p:cNvSpPr/>
          <p:nvPr/>
        </p:nvSpPr>
        <p:spPr>
          <a:xfrm>
            <a:off x="6583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MR. FUSION </a:t>
            </a:r>
            <a:endParaRPr lang="en-US" sz="11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D172E84-A16D-B79A-3931-94CFE9C72893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54A49F-C41C-A0CC-8AD2-9BE228D72818}"/>
              </a:ext>
            </a:extLst>
          </p:cNvPr>
          <p:cNvSpPr/>
          <p:nvPr/>
        </p:nvSpPr>
        <p:spPr>
          <a:xfrm>
            <a:off x="640080" y="1325880"/>
            <a:ext cx="63866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Clr>
                <a:schemeClr val="bg1"/>
              </a:buClr>
              <a:buSzPct val="100000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Documentation</a:t>
            </a:r>
          </a:p>
          <a:p>
            <a:pPr>
              <a:buClr>
                <a:schemeClr val="bg1"/>
              </a:buClr>
              <a:buSzPct val="100000"/>
            </a:pPr>
            <a:endParaRPr lang="en-US" sz="900" dirty="0">
              <a:solidFill>
                <a:schemeClr val="bg1"/>
              </a:solidFill>
              <a:latin typeface="Arial Black" panose="020B0A04020102020204" pitchFamily="34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Differences between Windows PowerShell 5.1 and PowerShell 7.x</a:t>
            </a:r>
            <a:endParaRPr lang="en-US" dirty="0">
              <a:solidFill>
                <a:schemeClr val="bg1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Migrating from Windows PowerShell 5.1 to PowerShell 7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More to come</a:t>
            </a:r>
          </a:p>
          <a:p>
            <a:pPr>
              <a:buClr>
                <a:schemeClr val="bg1"/>
              </a:buClr>
              <a:buSzPct val="100000"/>
            </a:pP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SzPct val="100000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PSScriptAnalyzer compatibility rules</a:t>
            </a:r>
          </a:p>
          <a:p>
            <a:pPr>
              <a:buClr>
                <a:schemeClr val="bg1"/>
              </a:buClr>
              <a:buSzPct val="100000"/>
            </a:pPr>
            <a:endParaRPr lang="en-US" sz="9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UseCompatibleCmdlets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UseCompatibleCommands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UseCompatibleSyntax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UseCompatibleTypes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231B7A-9193-61F0-4328-8CA2919A69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708" y="914400"/>
            <a:ext cx="2890434" cy="289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68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320A-C5AE-1C49-0CBE-ECD2F10CF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CA081-CE5F-90F9-4041-0248DC0C0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Your feedback is very important to us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3B8C-B886-287E-7F93-A466AA5DB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6078071" cy="33940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 in the App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60C760-A999-4724-9BF2-BEC7D4037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8353" y="1200150"/>
            <a:ext cx="1918447" cy="192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80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2F595B-88A1-CFC3-1B20-220BE1A8B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1D910A-E9A6-C88A-F3E5-12543584CA66}"/>
              </a:ext>
            </a:extLst>
          </p:cNvPr>
          <p:cNvSpPr/>
          <p:nvPr/>
        </p:nvSpPr>
        <p:spPr>
          <a:xfrm>
            <a:off x="6583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 CAPACITOR</a:t>
            </a:r>
            <a:endParaRPr lang="en-US" sz="11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5077516-3107-E987-98A0-71633C04DB38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how WE get to 88 mph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90CD29-1B87-08E6-CDE0-B64322F81F5C}"/>
              </a:ext>
            </a:extLst>
          </p:cNvPr>
          <p:cNvSpPr/>
          <p:nvPr/>
        </p:nvSpPr>
        <p:spPr>
          <a:xfrm>
            <a:off x="658368" y="16916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 — replace with your content.</a:t>
            </a:r>
            <a:endParaRPr lang="en-US" sz="1650" dirty="0"/>
          </a:p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 point — keep it to one line each.</a:t>
            </a:r>
            <a:endParaRPr lang="en-US" sz="1650" dirty="0"/>
          </a:p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key point supporting the section theme.</a:t>
            </a:r>
            <a:endParaRPr lang="en-US" sz="1650" dirty="0"/>
          </a:p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point — add or remove rows as needed.</a:t>
            </a:r>
            <a:endParaRPr lang="en-US" sz="1650" dirty="0"/>
          </a:p>
        </p:txBody>
      </p:sp>
      <p:sp>
        <p:nvSpPr>
          <p:cNvPr id="5" name="stat panel">
            <a:extLst>
              <a:ext uri="{FF2B5EF4-FFF2-40B4-BE49-F238E27FC236}">
                <a16:creationId xmlns:a16="http://schemas.microsoft.com/office/drawing/2014/main" id="{A3207ED9-026D-CED3-1D2A-7D5517F1B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1600200"/>
            <a:ext cx="2606040" cy="2880360"/>
          </a:xfrm>
          <a:prstGeom prst="rect">
            <a:avLst/>
          </a:prstGeom>
          <a:solidFill>
            <a:srgbClr val="0E1626"/>
          </a:solidFill>
          <a:ln w="12700">
            <a:solidFill>
              <a:srgbClr val="3B82F6"/>
            </a:solidFill>
            <a:prstDash val="solid"/>
          </a:ln>
          <a:effectLst>
            <a:outerShdw blurRad="114300" dist="381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glow ring">
            <a:extLst>
              <a:ext uri="{FF2B5EF4-FFF2-40B4-BE49-F238E27FC236}">
                <a16:creationId xmlns:a16="http://schemas.microsoft.com/office/drawing/2014/main" id="{F4ABD425-3FF8-EC60-67B2-48410F57F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2011680"/>
            <a:ext cx="1600200" cy="1600200"/>
          </a:xfrm>
          <a:prstGeom prst="ellipse">
            <a:avLst/>
          </a:prstGeom>
          <a:solidFill>
            <a:srgbClr val="3B82F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E93F0E7-A25C-9071-2C00-2616A282CB4D}"/>
              </a:ext>
            </a:extLst>
          </p:cNvPr>
          <p:cNvSpPr/>
          <p:nvPr/>
        </p:nvSpPr>
        <p:spPr>
          <a:xfrm>
            <a:off x="5897880" y="20574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22D3FF"/>
                </a:solidFill>
                <a:effectLst>
                  <a:glow rad="203200">
                    <a:srgbClr val="22D3FF">
                      <a:alpha val="60000"/>
                    </a:srgbClr>
                  </a:glow>
                </a:effectLs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</a:t>
            </a:r>
            <a:endParaRPr lang="en-US" sz="8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93D4B17-B0EA-8398-C78D-86E58C13D420}"/>
              </a:ext>
            </a:extLst>
          </p:cNvPr>
          <p:cNvSpPr/>
          <p:nvPr/>
        </p:nvSpPr>
        <p:spPr>
          <a:xfrm>
            <a:off x="5897880" y="3474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MPH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1DED9D-E8B5-E8EA-74D9-543F8416D541}"/>
              </a:ext>
            </a:extLst>
          </p:cNvPr>
          <p:cNvSpPr/>
          <p:nvPr/>
        </p:nvSpPr>
        <p:spPr>
          <a:xfrm>
            <a:off x="612648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your headline metric — the number the audience should remember.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15907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rtex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70D">
              <a:alpha val="7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left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5070D">
              <a:alpha val="7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86000"/>
            <a:ext cx="7863840" cy="1371600"/>
          </a:xfrm>
          <a:prstGeom prst="rect">
            <a:avLst/>
          </a:prstGeom>
          <a:noFill/>
          <a:ln/>
          <a:effectLst>
            <a:outerShdw blurRad="114300" dist="38100" dir="5400000" algn="bl" rotWithShape="0">
              <a:srgbClr val="000000">
                <a:alpha val="55000"/>
              </a:srgbClr>
            </a:outerShdw>
          </a:effectLst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TITLE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GOES HERE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description of what this section is about.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22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 CAPACITOR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02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LAYOUT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916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 — replace with your content.</a:t>
            </a:r>
            <a:endParaRPr lang="en-US" sz="1650" dirty="0"/>
          </a:p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 point — keep it to one line each.</a:t>
            </a:r>
            <a:endParaRPr lang="en-US" sz="1650" dirty="0"/>
          </a:p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key point supporting the section theme.</a:t>
            </a:r>
            <a:endParaRPr lang="en-US" sz="1650" dirty="0"/>
          </a:p>
          <a:p>
            <a:pPr marL="342900" indent="-342900">
              <a:spcAft>
                <a:spcPts val="1800"/>
              </a:spcAft>
              <a:buSzPct val="100000"/>
              <a:buChar char="►"/>
            </a:pPr>
            <a:r>
              <a:rPr lang="en-US" sz="16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point — add or remove rows as needed.</a:t>
            </a:r>
            <a:endParaRPr lang="en-US" sz="1650" dirty="0"/>
          </a:p>
        </p:txBody>
      </p:sp>
      <p:sp>
        <p:nvSpPr>
          <p:cNvPr id="5" name="sta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1600200"/>
            <a:ext cx="2606040" cy="2880360"/>
          </a:xfrm>
          <a:prstGeom prst="rect">
            <a:avLst/>
          </a:prstGeom>
          <a:solidFill>
            <a:srgbClr val="0E1626"/>
          </a:solidFill>
          <a:ln w="12700">
            <a:solidFill>
              <a:srgbClr val="3B82F6"/>
            </a:solidFill>
            <a:prstDash val="solid"/>
          </a:ln>
          <a:effectLst>
            <a:outerShdw blurRad="114300" dist="3810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glow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2011680"/>
            <a:ext cx="1600200" cy="1600200"/>
          </a:xfrm>
          <a:prstGeom prst="ellipse">
            <a:avLst/>
          </a:prstGeom>
          <a:solidFill>
            <a:srgbClr val="3B82F6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97880" y="20574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22D3FF"/>
                </a:solidFill>
                <a:effectLst>
                  <a:glow rad="203200">
                    <a:srgbClr val="22D3FF">
                      <a:alpha val="60000"/>
                    </a:srgbClr>
                  </a:glow>
                </a:effectLs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897880" y="3474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your headline metric — the number the audience should remember.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◄  ROADS?  WHERE WE'RE GOING...  ►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828800"/>
          </a:xfrm>
          <a:prstGeom prst="rect">
            <a:avLst/>
          </a:prstGeom>
          <a:noFill/>
          <a:ln/>
          <a:effectLst>
            <a:outerShdw blurRad="114300" dist="38100" dir="5400000" algn="bl" rotWithShape="0">
              <a:srgbClr val="000000">
                <a:alpha val="55000"/>
              </a:srgbClr>
            </a:outerShdw>
          </a:effectLst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BE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E6ED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CONTINUED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58368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your.name@company.com  ·  @handle  ·  company.com</a:t>
            </a:r>
            <a:endParaRPr lang="en-US" sz="1300" dirty="0"/>
          </a:p>
        </p:txBody>
      </p:sp>
      <p:sp>
        <p:nvSpPr>
          <p:cNvPr id="5" name="time circui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114800"/>
            <a:ext cx="2615184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13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42062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 TIME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" y="44256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3B3B"/>
                </a:solidFill>
                <a:effectLst>
                  <a:glow rad="101600">
                    <a:srgbClr val="FF3B3B">
                      <a:alpha val="5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OCT 26 1985</a:t>
            </a:r>
            <a:endParaRPr lang="en-US" sz="2000" dirty="0"/>
          </a:p>
        </p:txBody>
      </p:sp>
      <p:sp>
        <p:nvSpPr>
          <p:cNvPr id="8" name="time circui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3280" y="4114800"/>
            <a:ext cx="2615184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13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93008" y="42062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93008" y="44256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E08A"/>
                </a:solidFill>
                <a:effectLst>
                  <a:glow rad="101600">
                    <a:srgbClr val="27E08A">
                      <a:alpha val="5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JUL 09 2026</a:t>
            </a:r>
            <a:endParaRPr lang="en-US" sz="2000" dirty="0"/>
          </a:p>
        </p:txBody>
      </p:sp>
      <p:sp>
        <p:nvSpPr>
          <p:cNvPr id="11" name="time circui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4114800"/>
            <a:ext cx="2615184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13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36208" y="42062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TIME DEPARTED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36208" y="44256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020"/>
                </a:solidFill>
                <a:effectLst>
                  <a:glow rad="101600">
                    <a:srgbClr val="FFB020">
                      <a:alpha val="5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NOV 05 1955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591</Words>
  <Application>Microsoft Office PowerPoint</Application>
  <PresentationFormat>On-screen Show (16:9)</PresentationFormat>
  <Paragraphs>142</Paragraphs>
  <Slides>16</Slides>
  <Notes>12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Calibri</vt:lpstr>
      <vt:lpstr>Consolas</vt:lpstr>
      <vt:lpstr>Times New Roman</vt:lpstr>
      <vt:lpstr>Wingdings</vt:lpstr>
      <vt:lpstr>Office Theme</vt:lpstr>
      <vt:lpstr>Custom Design</vt:lpstr>
      <vt:lpstr>PowerPoint Presentation</vt:lpstr>
      <vt:lpstr>Your feedback is very important to us</vt:lpstr>
      <vt:lpstr>PowerShell 7 &amp; beyond!</vt:lpstr>
      <vt:lpstr>PowerPoint Presentation</vt:lpstr>
      <vt:lpstr>TIMELINE UP TO TODAY</vt:lpstr>
      <vt:lpstr>The future of PowerShell on Windows</vt:lpstr>
      <vt:lpstr>BACK TO THE FUTURE</vt:lpstr>
      <vt:lpstr>This is how WE get to 88 mph</vt:lpstr>
      <vt:lpstr>This is how YOU get to 88 mph</vt:lpstr>
      <vt:lpstr>PowerPoint Presentation</vt:lpstr>
      <vt:lpstr>Resources</vt:lpstr>
      <vt:lpstr>Your feedback is very important to us</vt:lpstr>
      <vt:lpstr>This is how WE get to 88 mph</vt:lpstr>
      <vt:lpstr>SECTION TITLE GOES HERE</vt:lpstr>
      <vt:lpstr>CONTENT LAYOUT</vt:lpstr>
      <vt:lpstr>TO BE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Wheeler</dc:creator>
  <cp:lastModifiedBy>Sean Wheeler</cp:lastModifiedBy>
  <cp:revision>15</cp:revision>
  <dcterms:created xsi:type="dcterms:W3CDTF">2026-07-09T15:18:30Z</dcterms:created>
  <dcterms:modified xsi:type="dcterms:W3CDTF">2026-08-15T14:39:09Z</dcterms:modified>
</cp:coreProperties>
</file>